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3" roundtripDataSignature="AMtx7mjfMWtEycqY19Ldg3bRbKGYclx2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E1E792-9E54-4FBC-934C-32BBFCF089D9}">
  <a:tblStyle styleId="{E2E1E792-9E54-4FBC-934C-32BBFCF089D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7E15652-B7AC-42DE-A5C9-21E05EB00EC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1" lang="en-IN">
                <a:latin typeface="Arial"/>
                <a:ea typeface="Arial"/>
                <a:cs typeface="Arial"/>
                <a:sym typeface="Arial"/>
              </a:rPr>
              <a:t>NOTE:</a:t>
            </a:r>
            <a:endParaRPr/>
          </a:p>
          <a:p>
            <a:pPr indent="0" lvl="0" marL="0" rtl="0" algn="l">
              <a:lnSpc>
                <a:spcPct val="100000"/>
              </a:lnSpc>
              <a:spcBef>
                <a:spcPts val="0"/>
              </a:spcBef>
              <a:spcAft>
                <a:spcPts val="0"/>
              </a:spcAft>
              <a:buSzPts val="1400"/>
              <a:buNone/>
            </a:pPr>
            <a:r>
              <a:rPr i="1" lang="en-IN">
                <a:latin typeface="Arial"/>
                <a:ea typeface="Arial"/>
                <a:cs typeface="Arial"/>
                <a:sym typeface="Arial"/>
              </a:rPr>
              <a:t>To change the  image on this slide, select the picture and delete it. Then click the Pictures icon in the placeholder to insert your own image.</a:t>
            </a:r>
            <a:endParaRPr/>
          </a:p>
        </p:txBody>
      </p:sp>
      <p:sp>
        <p:nvSpPr>
          <p:cNvPr id="118" name="Google Shape;1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f1a03d9ff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cf1a03d9ff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3cf1a03d9ff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53bd4142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c53bd4142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3c53bd4142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53bd4142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c53bd41426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c53bd41426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53bd41426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c53bd41426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3c53bd41426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f50a3c6b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cf50a3c6b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cf50a3c6b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dccbfe39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cdccbfe39c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cdccbfe39c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f1a03d9ff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cf1a03d9ff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cf1a03d9ff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f1a03d9ff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cf1a03d9ff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cf1a03d9ff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f1a03d9ff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cf1a03d9ff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cf1a03d9ff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53bd41426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c53bd41426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c53bd41426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53bd41426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c53bd41426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c53bd41426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b352be4e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fb352be4e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3fb352be4e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b352be4e5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fb352be4e5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g3fb352be4e5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b352be4e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fb352be4e5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3fb352be4e5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b352be4e5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fb352be4e5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3fb352be4e5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b352be4e5_3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fb352be4e5_3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fb352be4e5_3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b352be4e5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fb352be4e5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3fb352be4e5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b352be4e5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fb352be4e5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3fb352be4e5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b352be4e5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fb352be4e5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fb352be4e5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c53bd41426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c53bd41426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c53bd41426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cf0bf8440b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cf0bf8440b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cf0bf8440b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c53bd41426_0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c53bd41426_0_1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c53bd41426_0_1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f0bf8440b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cf0bf8440b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g3cf0bf8440b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cf0bf8440b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cf0bf8440b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3cf0bf8440b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23"/>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23"/>
          <p:cNvSpPr/>
          <p:nvPr>
            <p:ph idx="2" type="pic"/>
          </p:nvPr>
        </p:nvSpPr>
        <p:spPr>
          <a:xfrm>
            <a:off x="6981063" y="1310656"/>
            <a:ext cx="5210937" cy="4208604"/>
          </a:xfrm>
          <a:prstGeom prst="rect">
            <a:avLst/>
          </a:prstGeom>
          <a:solidFill>
            <a:srgbClr val="DED9D6"/>
          </a:solidFill>
          <a:ln>
            <a:noFill/>
          </a:ln>
        </p:spPr>
      </p:sp>
      <p:sp>
        <p:nvSpPr>
          <p:cNvPr id="22" name="Google Shape;22;p23"/>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3" name="Google Shape;23;p23"/>
          <p:cNvGrpSpPr/>
          <p:nvPr/>
        </p:nvGrpSpPr>
        <p:grpSpPr>
          <a:xfrm>
            <a:off x="0" y="1143000"/>
            <a:ext cx="12192000" cy="63125"/>
            <a:chOff x="507492" y="1501519"/>
            <a:chExt cx="8129016" cy="63125"/>
          </a:xfrm>
        </p:grpSpPr>
        <p:cxnSp>
          <p:nvCxnSpPr>
            <p:cNvPr id="24" name="Google Shape;24;p23"/>
            <p:cNvCxnSpPr/>
            <p:nvPr/>
          </p:nvCxnSpPr>
          <p:spPr>
            <a:xfrm>
              <a:off x="507492" y="1564644"/>
              <a:ext cx="8129016" cy="0"/>
            </a:xfrm>
            <a:prstGeom prst="straightConnector1">
              <a:avLst/>
            </a:prstGeom>
            <a:noFill/>
            <a:ln cap="flat" cmpd="sng" w="38100">
              <a:solidFill>
                <a:schemeClr val="dk1"/>
              </a:solidFill>
              <a:prstDash val="solid"/>
              <a:miter lim="8000"/>
              <a:headEnd len="sm" w="sm" type="none"/>
              <a:tailEnd len="sm" w="sm" type="none"/>
            </a:ln>
          </p:spPr>
        </p:cxnSp>
        <p:cxnSp>
          <p:nvCxnSpPr>
            <p:cNvPr id="25" name="Google Shape;25;p23"/>
            <p:cNvCxnSpPr/>
            <p:nvPr/>
          </p:nvCxnSpPr>
          <p:spPr>
            <a:xfrm>
              <a:off x="507492" y="1501519"/>
              <a:ext cx="8129016" cy="0"/>
            </a:xfrm>
            <a:prstGeom prst="straightConnector1">
              <a:avLst/>
            </a:prstGeom>
            <a:noFill/>
            <a:ln cap="flat" cmpd="sng" w="12700">
              <a:solidFill>
                <a:schemeClr val="dk1"/>
              </a:solidFill>
              <a:prstDash val="solid"/>
              <a:miter lim="8000"/>
              <a:headEnd len="sm" w="sm" type="none"/>
              <a:tailEnd len="sm" w="sm" type="none"/>
            </a:ln>
          </p:spPr>
        </p:cxnSp>
      </p:grpSp>
      <p:pic>
        <p:nvPicPr>
          <p:cNvPr id="26" name="Google Shape;26;p23"/>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23"/>
          <p:cNvGrpSpPr/>
          <p:nvPr/>
        </p:nvGrpSpPr>
        <p:grpSpPr>
          <a:xfrm rot="10800000">
            <a:off x="0" y="5645510"/>
            <a:ext cx="12192000" cy="63125"/>
            <a:chOff x="507492" y="1501519"/>
            <a:chExt cx="8129016" cy="63125"/>
          </a:xfrm>
        </p:grpSpPr>
        <p:cxnSp>
          <p:nvCxnSpPr>
            <p:cNvPr id="28" name="Google Shape;28;p23"/>
            <p:cNvCxnSpPr/>
            <p:nvPr/>
          </p:nvCxnSpPr>
          <p:spPr>
            <a:xfrm>
              <a:off x="507492" y="1564644"/>
              <a:ext cx="8129016" cy="0"/>
            </a:xfrm>
            <a:prstGeom prst="straightConnector1">
              <a:avLst/>
            </a:prstGeom>
            <a:noFill/>
            <a:ln cap="flat" cmpd="sng" w="38100">
              <a:solidFill>
                <a:schemeClr val="dk1"/>
              </a:solidFill>
              <a:prstDash val="solid"/>
              <a:miter lim="8000"/>
              <a:headEnd len="sm" w="sm" type="none"/>
              <a:tailEnd len="sm" w="sm" type="none"/>
            </a:ln>
          </p:spPr>
        </p:cxnSp>
        <p:cxnSp>
          <p:nvCxnSpPr>
            <p:cNvPr id="29" name="Google Shape;29;p23"/>
            <p:cNvCxnSpPr/>
            <p:nvPr/>
          </p:nvCxnSpPr>
          <p:spPr>
            <a:xfrm>
              <a:off x="507492" y="1501519"/>
              <a:ext cx="8129016" cy="0"/>
            </a:xfrm>
            <a:prstGeom prst="straightConnector1">
              <a:avLst/>
            </a:prstGeom>
            <a:noFill/>
            <a:ln cap="flat" cmpd="sng" w="12700">
              <a:solidFill>
                <a:schemeClr val="dk1"/>
              </a:solidFill>
              <a:prstDash val="solid"/>
              <a:miter lim="8000"/>
              <a:headEnd len="sm" w="sm" type="none"/>
              <a:tailEnd len="sm" w="sm" type="none"/>
            </a:ln>
          </p:spPr>
        </p:cxnSp>
      </p:grpSp>
      <p:sp>
        <p:nvSpPr>
          <p:cNvPr id="30" name="Google Shape;30;p23"/>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7" name="Shape 37"/>
        <p:cNvGrpSpPr/>
        <p:nvPr/>
      </p:nvGrpSpPr>
      <p:grpSpPr>
        <a:xfrm>
          <a:off x="0" y="0"/>
          <a:ext cx="0" cy="0"/>
          <a:chOff x="0" y="0"/>
          <a:chExt cx="0" cy="0"/>
        </a:xfrm>
      </p:grpSpPr>
      <p:sp>
        <p:nvSpPr>
          <p:cNvPr id="38" name="Google Shape;38;p26"/>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9" name="Google Shape;39;p26"/>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40" name="Google Shape;40;p26"/>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26"/>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 name="Google Shape;43;p2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solidFill>
                  <a:srgbClr val="DED9D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solidFill>
                  <a:srgbClr val="DED9D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6" name="Shape 46"/>
        <p:cNvGrpSpPr/>
        <p:nvPr/>
      </p:nvGrpSpPr>
      <p:grpSpPr>
        <a:xfrm>
          <a:off x="0" y="0"/>
          <a:ext cx="0" cy="0"/>
          <a:chOff x="0" y="0"/>
          <a:chExt cx="0" cy="0"/>
        </a:xfrm>
      </p:grpSpPr>
      <p:sp>
        <p:nvSpPr>
          <p:cNvPr id="47" name="Google Shape;47;p2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0" name="Shape 50"/>
        <p:cNvGrpSpPr/>
        <p:nvPr/>
      </p:nvGrpSpPr>
      <p:grpSpPr>
        <a:xfrm>
          <a:off x="0" y="0"/>
          <a:ext cx="0" cy="0"/>
          <a:chOff x="0" y="0"/>
          <a:chExt cx="0" cy="0"/>
        </a:xfrm>
      </p:grpSpPr>
      <p:grpSp>
        <p:nvGrpSpPr>
          <p:cNvPr id="51" name="Google Shape;51;p27"/>
          <p:cNvGrpSpPr/>
          <p:nvPr/>
        </p:nvGrpSpPr>
        <p:grpSpPr>
          <a:xfrm>
            <a:off x="0" y="2514600"/>
            <a:ext cx="12192000" cy="3194035"/>
            <a:chOff x="647402" y="2514600"/>
            <a:chExt cx="10838688" cy="3194035"/>
          </a:xfrm>
        </p:grpSpPr>
        <p:grpSp>
          <p:nvGrpSpPr>
            <p:cNvPr id="52" name="Google Shape;52;p27"/>
            <p:cNvGrpSpPr/>
            <p:nvPr/>
          </p:nvGrpSpPr>
          <p:grpSpPr>
            <a:xfrm>
              <a:off x="647402" y="2514600"/>
              <a:ext cx="10838688" cy="63125"/>
              <a:chOff x="507492" y="1501519"/>
              <a:chExt cx="8129016" cy="63125"/>
            </a:xfrm>
          </p:grpSpPr>
          <p:cxnSp>
            <p:nvCxnSpPr>
              <p:cNvPr id="53" name="Google Shape;53;p27"/>
              <p:cNvCxnSpPr/>
              <p:nvPr/>
            </p:nvCxnSpPr>
            <p:spPr>
              <a:xfrm>
                <a:off x="507492" y="1564644"/>
                <a:ext cx="8129016" cy="0"/>
              </a:xfrm>
              <a:prstGeom prst="straightConnector1">
                <a:avLst/>
              </a:prstGeom>
              <a:noFill/>
              <a:ln cap="flat" cmpd="sng" w="38100">
                <a:solidFill>
                  <a:schemeClr val="dk1"/>
                </a:solidFill>
                <a:prstDash val="solid"/>
                <a:miter lim="8000"/>
                <a:headEnd len="sm" w="sm" type="none"/>
                <a:tailEnd len="sm" w="sm" type="none"/>
              </a:ln>
            </p:spPr>
          </p:cxnSp>
          <p:cxnSp>
            <p:nvCxnSpPr>
              <p:cNvPr id="54" name="Google Shape;54;p27"/>
              <p:cNvCxnSpPr/>
              <p:nvPr/>
            </p:nvCxnSpPr>
            <p:spPr>
              <a:xfrm>
                <a:off x="507492" y="1501519"/>
                <a:ext cx="8129016" cy="0"/>
              </a:xfrm>
              <a:prstGeom prst="straightConnector1">
                <a:avLst/>
              </a:prstGeom>
              <a:noFill/>
              <a:ln cap="flat" cmpd="sng" w="12700">
                <a:solidFill>
                  <a:schemeClr val="dk1"/>
                </a:solidFill>
                <a:prstDash val="solid"/>
                <a:miter lim="8000"/>
                <a:headEnd len="sm" w="sm" type="none"/>
                <a:tailEnd len="sm" w="sm" type="none"/>
              </a:ln>
            </p:spPr>
          </p:cxnSp>
        </p:grpSp>
        <p:sp>
          <p:nvSpPr>
            <p:cNvPr id="55" name="Google Shape;55;p27"/>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56" name="Google Shape;56;p27"/>
            <p:cNvGrpSpPr/>
            <p:nvPr/>
          </p:nvGrpSpPr>
          <p:grpSpPr>
            <a:xfrm rot="10800000">
              <a:off x="647402" y="5645510"/>
              <a:ext cx="10838688" cy="63125"/>
              <a:chOff x="507492" y="1501519"/>
              <a:chExt cx="8129016" cy="63125"/>
            </a:xfrm>
          </p:grpSpPr>
          <p:cxnSp>
            <p:nvCxnSpPr>
              <p:cNvPr id="57" name="Google Shape;57;p27"/>
              <p:cNvCxnSpPr/>
              <p:nvPr/>
            </p:nvCxnSpPr>
            <p:spPr>
              <a:xfrm>
                <a:off x="507492" y="1564644"/>
                <a:ext cx="8129016" cy="0"/>
              </a:xfrm>
              <a:prstGeom prst="straightConnector1">
                <a:avLst/>
              </a:prstGeom>
              <a:noFill/>
              <a:ln cap="flat" cmpd="sng" w="38100">
                <a:solidFill>
                  <a:schemeClr val="dk1"/>
                </a:solidFill>
                <a:prstDash val="solid"/>
                <a:miter lim="8000"/>
                <a:headEnd len="sm" w="sm" type="none"/>
                <a:tailEnd len="sm" w="sm" type="none"/>
              </a:ln>
            </p:spPr>
          </p:cxnSp>
          <p:cxnSp>
            <p:nvCxnSpPr>
              <p:cNvPr id="58" name="Google Shape;58;p27"/>
              <p:cNvCxnSpPr/>
              <p:nvPr/>
            </p:nvCxnSpPr>
            <p:spPr>
              <a:xfrm>
                <a:off x="507492" y="1501519"/>
                <a:ext cx="8129016" cy="0"/>
              </a:xfrm>
              <a:prstGeom prst="straightConnector1">
                <a:avLst/>
              </a:prstGeom>
              <a:noFill/>
              <a:ln cap="flat" cmpd="sng" w="12700">
                <a:solidFill>
                  <a:schemeClr val="dk1"/>
                </a:solidFill>
                <a:prstDash val="solid"/>
                <a:miter lim="8000"/>
                <a:headEnd len="sm" w="sm" type="none"/>
                <a:tailEnd len="sm" w="sm" type="none"/>
              </a:ln>
            </p:spPr>
          </p:cxnSp>
        </p:grpSp>
      </p:grpSp>
      <p:pic>
        <p:nvPicPr>
          <p:cNvPr id="59" name="Google Shape;59;p27"/>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60" name="Google Shape;60;p27"/>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7"/>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rgbClr val="969391"/>
              </a:buClr>
              <a:buSzPts val="2000"/>
              <a:buNone/>
              <a:defRPr sz="2000">
                <a:solidFill>
                  <a:srgbClr val="969391"/>
                </a:solidFill>
              </a:defRPr>
            </a:lvl2pPr>
            <a:lvl3pPr indent="-228600" lvl="2" marL="1371600" algn="l">
              <a:lnSpc>
                <a:spcPct val="90000"/>
              </a:lnSpc>
              <a:spcBef>
                <a:spcPts val="600"/>
              </a:spcBef>
              <a:spcAft>
                <a:spcPts val="0"/>
              </a:spcAft>
              <a:buClr>
                <a:srgbClr val="969391"/>
              </a:buClr>
              <a:buSzPts val="1800"/>
              <a:buNone/>
              <a:defRPr sz="1800">
                <a:solidFill>
                  <a:srgbClr val="969391"/>
                </a:solidFill>
              </a:defRPr>
            </a:lvl3pPr>
            <a:lvl4pPr indent="-228600" lvl="3" marL="1828800" algn="l">
              <a:lnSpc>
                <a:spcPct val="90000"/>
              </a:lnSpc>
              <a:spcBef>
                <a:spcPts val="600"/>
              </a:spcBef>
              <a:spcAft>
                <a:spcPts val="0"/>
              </a:spcAft>
              <a:buClr>
                <a:srgbClr val="969391"/>
              </a:buClr>
              <a:buSzPts val="1600"/>
              <a:buNone/>
              <a:defRPr sz="1600">
                <a:solidFill>
                  <a:srgbClr val="969391"/>
                </a:solidFill>
              </a:defRPr>
            </a:lvl4pPr>
            <a:lvl5pPr indent="-228600" lvl="4" marL="2286000" algn="l">
              <a:lnSpc>
                <a:spcPct val="9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62" name="Google Shape;62;p2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68" name="Google Shape;68;p28"/>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17500" lvl="4" marL="2286000" algn="l">
              <a:lnSpc>
                <a:spcPct val="90000"/>
              </a:lnSpc>
              <a:spcBef>
                <a:spcPts val="6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9"/>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29"/>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9"/>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29"/>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1"/>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31"/>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90000"/>
              </a:lnSpc>
              <a:spcBef>
                <a:spcPts val="1800"/>
              </a:spcBef>
              <a:spcAft>
                <a:spcPts val="0"/>
              </a:spcAft>
              <a:buClr>
                <a:schemeClr val="dk1"/>
              </a:buClr>
              <a:buSzPts val="2000"/>
              <a:buChar char="▪"/>
              <a:defRPr sz="2000"/>
            </a:lvl1pPr>
            <a:lvl2pPr indent="-330200" lvl="1" marL="914400" algn="l">
              <a:lnSpc>
                <a:spcPct val="90000"/>
              </a:lnSpc>
              <a:spcBef>
                <a:spcPts val="600"/>
              </a:spcBef>
              <a:spcAft>
                <a:spcPts val="0"/>
              </a:spcAft>
              <a:buClr>
                <a:schemeClr val="dk1"/>
              </a:buClr>
              <a:buSzPts val="1600"/>
              <a:buChar char="▪"/>
              <a:defRPr sz="1600"/>
            </a:lvl2pPr>
            <a:lvl3pPr indent="-330200" lvl="2" marL="1371600" algn="l">
              <a:lnSpc>
                <a:spcPct val="90000"/>
              </a:lnSpc>
              <a:spcBef>
                <a:spcPts val="600"/>
              </a:spcBef>
              <a:spcAft>
                <a:spcPts val="0"/>
              </a:spcAft>
              <a:buClr>
                <a:schemeClr val="dk1"/>
              </a:buClr>
              <a:buSzPts val="1600"/>
              <a:buChar char="▪"/>
              <a:defRPr sz="1600"/>
            </a:lvl3pPr>
            <a:lvl4pPr indent="-317500" lvl="3" marL="1828800" algn="l">
              <a:lnSpc>
                <a:spcPct val="90000"/>
              </a:lnSpc>
              <a:spcBef>
                <a:spcPts val="600"/>
              </a:spcBef>
              <a:spcAft>
                <a:spcPts val="0"/>
              </a:spcAft>
              <a:buClr>
                <a:schemeClr val="dk1"/>
              </a:buClr>
              <a:buSzPts val="1400"/>
              <a:buChar char="▪"/>
              <a:defRPr sz="1400"/>
            </a:lvl4pPr>
            <a:lvl5pPr indent="-317500" lvl="4" marL="2286000" algn="l">
              <a:lnSpc>
                <a:spcPct val="9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0" name="Google Shape;90;p3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2"/>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600"/>
              </a:spcBef>
              <a:spcAft>
                <a:spcPts val="0"/>
              </a:spcAft>
              <a:buClr>
                <a:schemeClr val="dk1"/>
              </a:buClr>
              <a:buSzPts val="1400"/>
              <a:buNone/>
              <a:defRPr sz="1400"/>
            </a:lvl2pPr>
            <a:lvl3pPr indent="-228600" lvl="2" marL="1371600" algn="l">
              <a:lnSpc>
                <a:spcPct val="90000"/>
              </a:lnSpc>
              <a:spcBef>
                <a:spcPts val="600"/>
              </a:spcBef>
              <a:spcAft>
                <a:spcPts val="0"/>
              </a:spcAft>
              <a:buClr>
                <a:schemeClr val="dk1"/>
              </a:buClr>
              <a:buSzPts val="1200"/>
              <a:buNone/>
              <a:defRPr sz="1200"/>
            </a:lvl3pPr>
            <a:lvl4pPr indent="-228600" lvl="3" marL="1828800" algn="l">
              <a:lnSpc>
                <a:spcPct val="90000"/>
              </a:lnSpc>
              <a:spcBef>
                <a:spcPts val="600"/>
              </a:spcBef>
              <a:spcAft>
                <a:spcPts val="0"/>
              </a:spcAft>
              <a:buClr>
                <a:schemeClr val="dk1"/>
              </a:buClr>
              <a:buSzPts val="1000"/>
              <a:buNone/>
              <a:defRPr sz="1000"/>
            </a:lvl4pPr>
            <a:lvl5pPr indent="-228600" lvl="4" marL="2286000" algn="l">
              <a:lnSpc>
                <a:spcPct val="9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96" name="Google Shape;96;p32"/>
          <p:cNvSpPr/>
          <p:nvPr>
            <p:ph idx="2" type="pic"/>
          </p:nvPr>
        </p:nvSpPr>
        <p:spPr>
          <a:xfrm>
            <a:off x="4654671" y="1600199"/>
            <a:ext cx="6430912" cy="4572001"/>
          </a:xfrm>
          <a:prstGeom prst="rect">
            <a:avLst/>
          </a:prstGeom>
          <a:noFill/>
          <a:ln>
            <a:noFill/>
          </a:ln>
        </p:spPr>
      </p:sp>
      <p:sp>
        <p:nvSpPr>
          <p:cNvPr id="97" name="Google Shape;97;p3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3"/>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3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6" name="Shape 106"/>
        <p:cNvGrpSpPr/>
        <p:nvPr/>
      </p:nvGrpSpPr>
      <p:grpSpPr>
        <a:xfrm>
          <a:off x="0" y="0"/>
          <a:ext cx="0" cy="0"/>
          <a:chOff x="0" y="0"/>
          <a:chExt cx="0" cy="0"/>
        </a:xfrm>
      </p:grpSpPr>
      <p:sp>
        <p:nvSpPr>
          <p:cNvPr id="107" name="Google Shape;107;p34"/>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4"/>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12" name="Google Shape;112;p34"/>
          <p:cNvGrpSpPr/>
          <p:nvPr/>
        </p:nvGrpSpPr>
        <p:grpSpPr>
          <a:xfrm rot="5400000">
            <a:off x="6514047" y="3228843"/>
            <a:ext cx="5632704" cy="84403"/>
            <a:chOff x="1073150" y="1219201"/>
            <a:chExt cx="10058400" cy="63125"/>
          </a:xfrm>
        </p:grpSpPr>
        <p:cxnSp>
          <p:nvCxnSpPr>
            <p:cNvPr id="113" name="Google Shape;113;p34"/>
            <p:cNvCxnSpPr/>
            <p:nvPr/>
          </p:nvCxnSpPr>
          <p:spPr>
            <a:xfrm rot="10800000">
              <a:off x="1073150" y="1219201"/>
              <a:ext cx="10058400" cy="0"/>
            </a:xfrm>
            <a:prstGeom prst="straightConnector1">
              <a:avLst/>
            </a:prstGeom>
            <a:noFill/>
            <a:ln cap="flat" cmpd="sng" w="38100">
              <a:solidFill>
                <a:schemeClr val="dk1"/>
              </a:solidFill>
              <a:prstDash val="solid"/>
              <a:miter lim="8000"/>
              <a:headEnd len="sm" w="sm" type="none"/>
              <a:tailEnd len="sm" w="sm" type="none"/>
            </a:ln>
          </p:spPr>
        </p:cxnSp>
        <p:cxnSp>
          <p:nvCxnSpPr>
            <p:cNvPr id="114" name="Google Shape;114;p34"/>
            <p:cNvCxnSpPr/>
            <p:nvPr/>
          </p:nvCxnSpPr>
          <p:spPr>
            <a:xfrm rot="10800000">
              <a:off x="1073150" y="1282326"/>
              <a:ext cx="10058400" cy="0"/>
            </a:xfrm>
            <a:prstGeom prst="straightConnector1">
              <a:avLst/>
            </a:prstGeom>
            <a:noFill/>
            <a:ln cap="flat" cmpd="sng" w="12700">
              <a:solidFill>
                <a:schemeClr val="dk1"/>
              </a:solidFill>
              <a:prstDash val="solid"/>
              <a:miter lim="8000"/>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8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1pPr>
            <a:lvl2pPr indent="-330200" lvl="1" marL="914400" marR="0" rtl="0" algn="l">
              <a:lnSpc>
                <a:spcPct val="90000"/>
              </a:lnSpc>
              <a:spcBef>
                <a:spcPts val="60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2pPr>
            <a:lvl3pPr indent="-317500" lvl="2" marL="13716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2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3C363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3C363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22"/>
          <p:cNvGrpSpPr/>
          <p:nvPr/>
        </p:nvGrpSpPr>
        <p:grpSpPr>
          <a:xfrm>
            <a:off x="1103376" y="1219201"/>
            <a:ext cx="9985248" cy="84403"/>
            <a:chOff x="1073150" y="1219201"/>
            <a:chExt cx="10058400" cy="63125"/>
          </a:xfrm>
        </p:grpSpPr>
        <p:cxnSp>
          <p:nvCxnSpPr>
            <p:cNvPr id="16" name="Google Shape;16;p22"/>
            <p:cNvCxnSpPr/>
            <p:nvPr/>
          </p:nvCxnSpPr>
          <p:spPr>
            <a:xfrm rot="10800000">
              <a:off x="1073150" y="1219201"/>
              <a:ext cx="10058400" cy="0"/>
            </a:xfrm>
            <a:prstGeom prst="straightConnector1">
              <a:avLst/>
            </a:prstGeom>
            <a:noFill/>
            <a:ln cap="flat" cmpd="sng" w="38100">
              <a:solidFill>
                <a:schemeClr val="dk1"/>
              </a:solidFill>
              <a:prstDash val="solid"/>
              <a:miter lim="8000"/>
              <a:headEnd len="sm" w="sm" type="none"/>
              <a:tailEnd len="sm" w="sm" type="none"/>
            </a:ln>
          </p:spPr>
        </p:cxnSp>
        <p:cxnSp>
          <p:nvCxnSpPr>
            <p:cNvPr id="17" name="Google Shape;17;p22"/>
            <p:cNvCxnSpPr/>
            <p:nvPr/>
          </p:nvCxnSpPr>
          <p:spPr>
            <a:xfrm rot="10800000">
              <a:off x="1073150" y="1282326"/>
              <a:ext cx="10058400" cy="0"/>
            </a:xfrm>
            <a:prstGeom prst="straightConnector1">
              <a:avLst/>
            </a:prstGeom>
            <a:noFill/>
            <a:ln cap="flat" cmpd="sng" w="12700">
              <a:solidFill>
                <a:schemeClr val="dk1"/>
              </a:solidFill>
              <a:prstDash val="solid"/>
              <a:miter lim="8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google.com/search?q=Rajeev+Singh+Chandel&amp;sca_esv=a4b231cb5bddee7b&amp;sxsrf=ANbL-n4wR4bK6Yoln8wih9ZG481EOktGoQ%3A1773110777611&amp;source=hp&amp;ei=-YWvafvoI-yMseMPkr2uwAw&amp;iflsig=AFdpzrgAAAAAaa-UCWnH4nsQriOm4eoxH7cm6m4JV74R&amp;ved=2ahUKEwjpp-K3qJSTAxXHUGwGHTS9AvYQgK4QegQIARAC&amp;uact=5&amp;oq=Assessing+Sustainable+Ecotourism+%0D%0AOpportunities+in+Western+Rajasthan%2C+%0D%0AIndia%2C+through+Advanced+Geospatial+%0D%0ATechnologies+author&amp;gs_lp=Egdnd3Mtd2l6In5Bc3Nlc3NpbmcgU3VzdGFpbmFibGUgRWNvdG91cmlzbSAKT3Bwb3J0dW5pdGllcyBpbiBXZXN0ZXJuIFJhamFzdGhhbiwgCkluZGlhLCB0aHJvdWdoIEFkdmFuY2VkIEdlb3NwYXRpYWwgClRlY2hub2xvZ2llcyBhdXRob3IyBxAjGCcY6gIyBxAjGCcY6gIyBxAjGCcY6gIyBxAjGCcY6gIyBxAjGCcY6gIyBxAjGCcY6gIyBxAjGCcY6gIyBxAjGCcY6gIyBxAjGCcY6gIyBxAjGCcY6gJIlWpQ-UhY6mdwAXgAkAEAmAEAoAEAqgEAuAEDyAEA-AEC-AEBmAIBoAIPqAIKmAMP8QUkohoIn2vMUpIHATGgBwCyBwC4BwDCBwMzLTHIBwyACAA&amp;sclient=gws-wiz&amp;mstk=AUtExfC4Cq46h7xG7GG0529D3Q3PiVMa4u0-iMjgcjc7Kmyt3gyxAB-n-wv6UptIuX29XA1dHhbsgCQZHU5LDNldGfely6-56iTOyJUAABgX75ms2VJnIAoMk2RY-At_bggqsjXWbODpw9Pt8ZREgqQG-yJIJDmx6kECsAbIWIrHwpFX1jk&amp;csui=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543125" y="2351422"/>
            <a:ext cx="5734200" cy="851700"/>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chemeClr val="dk2"/>
              </a:buClr>
              <a:buSzPts val="990"/>
              <a:buNone/>
            </a:pPr>
            <a:r>
              <a:t/>
            </a:r>
            <a:endParaRPr b="1" sz="2800">
              <a:solidFill>
                <a:schemeClr val="dk2"/>
              </a:solidFill>
            </a:endParaRPr>
          </a:p>
          <a:p>
            <a:pPr indent="0" lvl="0" marL="0" rtl="0" algn="l">
              <a:lnSpc>
                <a:spcPct val="90000"/>
              </a:lnSpc>
              <a:spcBef>
                <a:spcPts val="0"/>
              </a:spcBef>
              <a:spcAft>
                <a:spcPts val="0"/>
              </a:spcAft>
              <a:buClr>
                <a:schemeClr val="dk2"/>
              </a:buClr>
              <a:buSzPts val="990"/>
              <a:buNone/>
            </a:pPr>
            <a:r>
              <a:rPr b="1" lang="en-IN" sz="2000">
                <a:solidFill>
                  <a:schemeClr val="dk2"/>
                </a:solidFill>
              </a:rPr>
              <a:t>Terrain Suitability Mapping for Eco-Tourism Development Using Satellite Imaging</a:t>
            </a:r>
            <a:endParaRPr b="1" sz="2000">
              <a:solidFill>
                <a:schemeClr val="dk2"/>
              </a:solidFill>
            </a:endParaRPr>
          </a:p>
        </p:txBody>
      </p:sp>
      <p:sp>
        <p:nvSpPr>
          <p:cNvPr id="121" name="Google Shape;121;p1"/>
          <p:cNvSpPr txBox="1"/>
          <p:nvPr>
            <p:ph idx="1" type="subTitle"/>
          </p:nvPr>
        </p:nvSpPr>
        <p:spPr>
          <a:xfrm>
            <a:off x="523467" y="3741625"/>
            <a:ext cx="5773500" cy="16257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t/>
            </a:r>
            <a:endParaRPr>
              <a:solidFill>
                <a:schemeClr val="dk2"/>
              </a:solidFill>
            </a:endParaRPr>
          </a:p>
          <a:p>
            <a:pPr indent="0" lvl="0" marL="0" rtl="0" algn="l">
              <a:lnSpc>
                <a:spcPct val="90000"/>
              </a:lnSpc>
              <a:spcBef>
                <a:spcPts val="0"/>
              </a:spcBef>
              <a:spcAft>
                <a:spcPts val="0"/>
              </a:spcAft>
              <a:buClr>
                <a:schemeClr val="dk1"/>
              </a:buClr>
              <a:buSzPts val="1800"/>
              <a:buNone/>
            </a:pPr>
            <a:r>
              <a:rPr lang="en-IN">
                <a:solidFill>
                  <a:schemeClr val="dk2"/>
                </a:solidFill>
              </a:rPr>
              <a:t>Presented by: </a:t>
            </a:r>
            <a:r>
              <a:rPr b="1" lang="en-IN">
                <a:solidFill>
                  <a:schemeClr val="dk2"/>
                </a:solidFill>
              </a:rPr>
              <a:t>PID 27</a:t>
            </a:r>
            <a:endParaRPr b="1">
              <a:solidFill>
                <a:schemeClr val="dk2"/>
              </a:solidFill>
            </a:endParaRPr>
          </a:p>
          <a:p>
            <a:pPr indent="0" lvl="0" marL="0" rtl="0" algn="l">
              <a:lnSpc>
                <a:spcPct val="90000"/>
              </a:lnSpc>
              <a:spcBef>
                <a:spcPts val="0"/>
              </a:spcBef>
              <a:spcAft>
                <a:spcPts val="0"/>
              </a:spcAft>
              <a:buClr>
                <a:schemeClr val="dk1"/>
              </a:buClr>
              <a:buSzPts val="1800"/>
              <a:buNone/>
            </a:pPr>
            <a:r>
              <a:t/>
            </a:r>
            <a:endParaRPr>
              <a:solidFill>
                <a:schemeClr val="dk2"/>
              </a:solidFill>
            </a:endParaRPr>
          </a:p>
          <a:p>
            <a:pPr indent="0" lvl="0" marL="0" rtl="0" algn="l">
              <a:lnSpc>
                <a:spcPct val="90000"/>
              </a:lnSpc>
              <a:spcBef>
                <a:spcPts val="0"/>
              </a:spcBef>
              <a:spcAft>
                <a:spcPts val="0"/>
              </a:spcAft>
              <a:buClr>
                <a:schemeClr val="dk1"/>
              </a:buClr>
              <a:buSzPts val="1800"/>
              <a:buNone/>
            </a:pPr>
            <a:r>
              <a:rPr lang="en-IN">
                <a:solidFill>
                  <a:schemeClr val="dk2"/>
                </a:solidFill>
              </a:rPr>
              <a:t>Class : </a:t>
            </a:r>
            <a:r>
              <a:rPr b="1" lang="en-IN">
                <a:solidFill>
                  <a:schemeClr val="dk2"/>
                </a:solidFill>
              </a:rPr>
              <a:t>TY (B)</a:t>
            </a:r>
            <a:endParaRPr b="1">
              <a:solidFill>
                <a:schemeClr val="dk2"/>
              </a:solidFill>
            </a:endParaRPr>
          </a:p>
          <a:p>
            <a:pPr indent="0" lvl="0" marL="0" rtl="0" algn="l">
              <a:lnSpc>
                <a:spcPct val="90000"/>
              </a:lnSpc>
              <a:spcBef>
                <a:spcPts val="0"/>
              </a:spcBef>
              <a:spcAft>
                <a:spcPts val="0"/>
              </a:spcAft>
              <a:buClr>
                <a:schemeClr val="dk1"/>
              </a:buClr>
              <a:buSzPts val="1800"/>
              <a:buNone/>
            </a:pPr>
            <a:r>
              <a:t/>
            </a:r>
            <a:endParaRPr>
              <a:solidFill>
                <a:schemeClr val="dk2"/>
              </a:solidFill>
            </a:endParaRPr>
          </a:p>
          <a:p>
            <a:pPr indent="0" lvl="0" marL="0" rtl="0" algn="l">
              <a:lnSpc>
                <a:spcPct val="90000"/>
              </a:lnSpc>
              <a:spcBef>
                <a:spcPts val="0"/>
              </a:spcBef>
              <a:spcAft>
                <a:spcPts val="0"/>
              </a:spcAft>
              <a:buClr>
                <a:schemeClr val="dk1"/>
              </a:buClr>
              <a:buSzPts val="1800"/>
              <a:buNone/>
            </a:pPr>
            <a:r>
              <a:rPr lang="en-IN">
                <a:solidFill>
                  <a:schemeClr val="dk2"/>
                </a:solidFill>
              </a:rPr>
              <a:t>Guided by </a:t>
            </a:r>
            <a:r>
              <a:rPr b="1" lang="en-IN">
                <a:solidFill>
                  <a:schemeClr val="dk2"/>
                </a:solidFill>
              </a:rPr>
              <a:t>:Prof.M.P.Mahajan</a:t>
            </a:r>
            <a:endParaRPr b="1">
              <a:solidFill>
                <a:schemeClr val="dk2"/>
              </a:solidFill>
            </a:endParaRPr>
          </a:p>
          <a:p>
            <a:pPr indent="0" lvl="0" marL="0" rtl="0" algn="l">
              <a:lnSpc>
                <a:spcPct val="90000"/>
              </a:lnSpc>
              <a:spcBef>
                <a:spcPts val="0"/>
              </a:spcBef>
              <a:spcAft>
                <a:spcPts val="0"/>
              </a:spcAft>
              <a:buClr>
                <a:schemeClr val="dk1"/>
              </a:buClr>
              <a:buSzPts val="1800"/>
              <a:buNone/>
            </a:pPr>
            <a:r>
              <a:t/>
            </a:r>
            <a:endParaRPr>
              <a:solidFill>
                <a:schemeClr val="dk2"/>
              </a:solidFill>
            </a:endParaRPr>
          </a:p>
        </p:txBody>
      </p:sp>
      <p:sp>
        <p:nvSpPr>
          <p:cNvPr id="122" name="Google Shape;122;p1"/>
          <p:cNvSpPr/>
          <p:nvPr>
            <p:ph idx="2" type="pic"/>
          </p:nvPr>
        </p:nvSpPr>
        <p:spPr>
          <a:xfrm>
            <a:off x="6981063" y="1310656"/>
            <a:ext cx="5210937" cy="4208604"/>
          </a:xfrm>
          <a:prstGeom prst="rect">
            <a:avLst/>
          </a:prstGeom>
          <a:solidFill>
            <a:srgbClr val="DED9D6"/>
          </a:solidFill>
          <a:ln>
            <a:noFill/>
          </a:ln>
        </p:spPr>
      </p:sp>
      <p:pic>
        <p:nvPicPr>
          <p:cNvPr id="123" name="Google Shape;123;p1"/>
          <p:cNvPicPr preferRelativeResize="0"/>
          <p:nvPr/>
        </p:nvPicPr>
        <p:blipFill rotWithShape="1">
          <a:blip r:embed="rId3">
            <a:alphaModFix/>
          </a:blip>
          <a:srcRect b="0" l="0" r="0" t="0"/>
          <a:stretch/>
        </p:blipFill>
        <p:spPr>
          <a:xfrm>
            <a:off x="8399415" y="3344239"/>
            <a:ext cx="2677887" cy="2155222"/>
          </a:xfrm>
          <a:prstGeom prst="rect">
            <a:avLst/>
          </a:prstGeom>
          <a:noFill/>
          <a:ln>
            <a:noFill/>
          </a:ln>
        </p:spPr>
      </p:pic>
      <p:pic>
        <p:nvPicPr>
          <p:cNvPr descr="C:\Users\itdept\Desktop\Revision2_NAAC_Criteria\KKW Building photo. 27-4-17.jpg" id="124" name="Google Shape;124;p1"/>
          <p:cNvPicPr preferRelativeResize="0"/>
          <p:nvPr/>
        </p:nvPicPr>
        <p:blipFill rotWithShape="1">
          <a:blip r:embed="rId4">
            <a:alphaModFix/>
          </a:blip>
          <a:srcRect b="0" l="0" r="0" t="0"/>
          <a:stretch/>
        </p:blipFill>
        <p:spPr>
          <a:xfrm>
            <a:off x="6962502" y="1310866"/>
            <a:ext cx="5229497" cy="19894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2800"/>
              <a:buFont typeface="Arial"/>
              <a:buNone/>
            </a:pPr>
            <a:r>
              <a:rPr lang="en-IN">
                <a:solidFill>
                  <a:schemeClr val="dk2"/>
                </a:solidFill>
              </a:rPr>
              <a:t>Outline</a:t>
            </a:r>
            <a:endParaRPr>
              <a:solidFill>
                <a:schemeClr val="dk2"/>
              </a:solidFill>
            </a:endParaRPr>
          </a:p>
        </p:txBody>
      </p:sp>
      <p:sp>
        <p:nvSpPr>
          <p:cNvPr id="130" name="Google Shape;130;p2"/>
          <p:cNvSpPr txBox="1"/>
          <p:nvPr>
            <p:ph idx="1" type="body"/>
          </p:nvPr>
        </p:nvSpPr>
        <p:spPr>
          <a:xfrm>
            <a:off x="1104138" y="1239676"/>
            <a:ext cx="9982200" cy="38100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dk1"/>
              </a:buClr>
              <a:buSzPts val="2000"/>
              <a:buNone/>
            </a:pPr>
            <a:r>
              <a:t/>
            </a:r>
            <a:endParaRPr sz="1800">
              <a:solidFill>
                <a:schemeClr val="dk2"/>
              </a:solidFill>
            </a:endParaRPr>
          </a:p>
          <a:p>
            <a:pPr indent="-215900" lvl="0" marL="228600" rtl="0" algn="just">
              <a:lnSpc>
                <a:spcPct val="90000"/>
              </a:lnSpc>
              <a:spcBef>
                <a:spcPts val="1800"/>
              </a:spcBef>
              <a:spcAft>
                <a:spcPts val="0"/>
              </a:spcAft>
              <a:buSzPts val="1800"/>
              <a:buChar char="▪"/>
            </a:pPr>
            <a:r>
              <a:rPr lang="en-IN" sz="1800">
                <a:solidFill>
                  <a:schemeClr val="dk2"/>
                </a:solidFill>
              </a:rPr>
              <a:t>Introduction</a:t>
            </a:r>
            <a:endParaRPr sz="1800">
              <a:solidFill>
                <a:schemeClr val="dk2"/>
              </a:solidFill>
            </a:endParaRPr>
          </a:p>
          <a:p>
            <a:pPr indent="-215900" lvl="0" marL="228600" rtl="0" algn="just">
              <a:lnSpc>
                <a:spcPct val="90000"/>
              </a:lnSpc>
              <a:spcBef>
                <a:spcPts val="1800"/>
              </a:spcBef>
              <a:spcAft>
                <a:spcPts val="0"/>
              </a:spcAft>
              <a:buSzPts val="1800"/>
              <a:buChar char="▪"/>
            </a:pPr>
            <a:r>
              <a:rPr lang="en-IN" sz="1800">
                <a:solidFill>
                  <a:schemeClr val="dk2"/>
                </a:solidFill>
              </a:rPr>
              <a:t>Problem Statement</a:t>
            </a:r>
            <a:endParaRPr sz="1800">
              <a:solidFill>
                <a:schemeClr val="dk2"/>
              </a:solidFill>
            </a:endParaRPr>
          </a:p>
          <a:p>
            <a:pPr indent="-215900" lvl="0" marL="228600" rtl="0" algn="just">
              <a:lnSpc>
                <a:spcPct val="90000"/>
              </a:lnSpc>
              <a:spcBef>
                <a:spcPts val="1800"/>
              </a:spcBef>
              <a:spcAft>
                <a:spcPts val="0"/>
              </a:spcAft>
              <a:buSzPts val="1800"/>
              <a:buChar char="▪"/>
            </a:pPr>
            <a:r>
              <a:rPr lang="en-IN" sz="1800">
                <a:solidFill>
                  <a:schemeClr val="dk2"/>
                </a:solidFill>
              </a:rPr>
              <a:t>Objectives</a:t>
            </a:r>
            <a:endParaRPr sz="1800">
              <a:solidFill>
                <a:schemeClr val="dk2"/>
              </a:solidFill>
            </a:endParaRPr>
          </a:p>
          <a:p>
            <a:pPr indent="-215900" lvl="0" marL="228600" rtl="0" algn="just">
              <a:lnSpc>
                <a:spcPct val="90000"/>
              </a:lnSpc>
              <a:spcBef>
                <a:spcPts val="1800"/>
              </a:spcBef>
              <a:spcAft>
                <a:spcPts val="0"/>
              </a:spcAft>
              <a:buClr>
                <a:schemeClr val="dk1"/>
              </a:buClr>
              <a:buSzPts val="1800"/>
              <a:buChar char="▪"/>
            </a:pPr>
            <a:r>
              <a:rPr lang="en-IN" sz="1800">
                <a:solidFill>
                  <a:schemeClr val="dk2"/>
                </a:solidFill>
              </a:rPr>
              <a:t>Literature Review </a:t>
            </a:r>
            <a:endParaRPr sz="1800">
              <a:solidFill>
                <a:schemeClr val="dk2"/>
              </a:solidFill>
            </a:endParaRPr>
          </a:p>
          <a:p>
            <a:pPr indent="-215900" lvl="0" marL="228600" rtl="0" algn="just">
              <a:lnSpc>
                <a:spcPct val="90000"/>
              </a:lnSpc>
              <a:spcBef>
                <a:spcPts val="1800"/>
              </a:spcBef>
              <a:spcAft>
                <a:spcPts val="0"/>
              </a:spcAft>
              <a:buClr>
                <a:schemeClr val="dk1"/>
              </a:buClr>
              <a:buSzPts val="1800"/>
              <a:buChar char="▪"/>
            </a:pPr>
            <a:r>
              <a:rPr lang="en-IN" sz="1800">
                <a:solidFill>
                  <a:schemeClr val="dk2"/>
                </a:solidFill>
              </a:rPr>
              <a:t>Methodology(Block diagram,Proposed approach,Techniques,tools)</a:t>
            </a:r>
            <a:endParaRPr sz="1800">
              <a:solidFill>
                <a:schemeClr val="dk2"/>
              </a:solidFill>
            </a:endParaRPr>
          </a:p>
          <a:p>
            <a:pPr indent="-215900" lvl="0" marL="228600" rtl="0" algn="just">
              <a:lnSpc>
                <a:spcPct val="90000"/>
              </a:lnSpc>
              <a:spcBef>
                <a:spcPts val="1800"/>
              </a:spcBef>
              <a:spcAft>
                <a:spcPts val="0"/>
              </a:spcAft>
              <a:buClr>
                <a:schemeClr val="dk1"/>
              </a:buClr>
              <a:buSzPts val="1800"/>
              <a:buChar char="▪"/>
            </a:pPr>
            <a:r>
              <a:rPr lang="en-IN" sz="1800">
                <a:solidFill>
                  <a:schemeClr val="dk2"/>
                </a:solidFill>
              </a:rPr>
              <a:t>Expected Outcomes (Input,Output)</a:t>
            </a:r>
            <a:endParaRPr sz="1800">
              <a:solidFill>
                <a:schemeClr val="dk2"/>
              </a:solidFill>
            </a:endParaRPr>
          </a:p>
          <a:p>
            <a:pPr indent="-215900" lvl="0" marL="228600" rtl="0" algn="just">
              <a:lnSpc>
                <a:spcPct val="90000"/>
              </a:lnSpc>
              <a:spcBef>
                <a:spcPts val="1800"/>
              </a:spcBef>
              <a:spcAft>
                <a:spcPts val="0"/>
              </a:spcAft>
              <a:buSzPts val="1800"/>
              <a:buChar char="▪"/>
            </a:pPr>
            <a:r>
              <a:rPr lang="en-IN" sz="1800">
                <a:solidFill>
                  <a:schemeClr val="dk2"/>
                </a:solidFill>
              </a:rPr>
              <a:t>Implementation </a:t>
            </a:r>
            <a:endParaRPr/>
          </a:p>
          <a:p>
            <a:pPr indent="-215900" lvl="0" marL="228600" rtl="0" algn="just">
              <a:lnSpc>
                <a:spcPct val="90000"/>
              </a:lnSpc>
              <a:spcBef>
                <a:spcPts val="1800"/>
              </a:spcBef>
              <a:spcAft>
                <a:spcPts val="0"/>
              </a:spcAft>
              <a:buSzPts val="1800"/>
              <a:buChar char="▪"/>
            </a:pPr>
            <a:r>
              <a:rPr lang="en-IN" sz="1800">
                <a:solidFill>
                  <a:schemeClr val="dk2"/>
                </a:solidFill>
              </a:rPr>
              <a:t>Conclusion</a:t>
            </a:r>
            <a:endParaRPr sz="1800">
              <a:solidFill>
                <a:schemeClr val="dk2"/>
              </a:solidFill>
            </a:endParaRPr>
          </a:p>
          <a:p>
            <a:pPr indent="-215900" lvl="0" marL="228600" rtl="0" algn="just">
              <a:lnSpc>
                <a:spcPct val="90000"/>
              </a:lnSpc>
              <a:spcBef>
                <a:spcPts val="1800"/>
              </a:spcBef>
              <a:spcAft>
                <a:spcPts val="0"/>
              </a:spcAft>
              <a:buClr>
                <a:schemeClr val="dk1"/>
              </a:buClr>
              <a:buSzPts val="1800"/>
              <a:buChar char="▪"/>
            </a:pPr>
            <a:r>
              <a:rPr lang="en-IN" sz="1800">
                <a:solidFill>
                  <a:schemeClr val="dk2"/>
                </a:solidFill>
              </a:rPr>
              <a:t>References</a:t>
            </a:r>
            <a:endParaRPr sz="1800">
              <a:solidFill>
                <a:schemeClr val="dk2"/>
              </a:solidFill>
            </a:endParaRPr>
          </a:p>
        </p:txBody>
      </p:sp>
      <p:pic>
        <p:nvPicPr>
          <p:cNvPr id="131" name="Google Shape;131;p2"/>
          <p:cNvPicPr preferRelativeResize="0"/>
          <p:nvPr/>
        </p:nvPicPr>
        <p:blipFill rotWithShape="1">
          <a:blip r:embed="rId3">
            <a:alphaModFix/>
          </a:blip>
          <a:srcRect b="0" l="0" r="0" t="0"/>
          <a:stretch/>
        </p:blipFill>
        <p:spPr>
          <a:xfrm>
            <a:off x="10919540" y="150750"/>
            <a:ext cx="1233271" cy="10298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cf1a03d9ff_0_106"/>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Introduction</a:t>
            </a:r>
            <a:endParaRPr>
              <a:solidFill>
                <a:schemeClr val="dk2"/>
              </a:solidFill>
            </a:endParaRPr>
          </a:p>
        </p:txBody>
      </p:sp>
      <p:sp>
        <p:nvSpPr>
          <p:cNvPr id="138" name="Google Shape;138;g3cf1a03d9ff_0_106"/>
          <p:cNvSpPr txBox="1"/>
          <p:nvPr>
            <p:ph idx="1" type="body"/>
          </p:nvPr>
        </p:nvSpPr>
        <p:spPr>
          <a:xfrm>
            <a:off x="1104900" y="1600200"/>
            <a:ext cx="9982200" cy="4572000"/>
          </a:xfrm>
          <a:prstGeom prst="rect">
            <a:avLst/>
          </a:prstGeom>
          <a:noFill/>
          <a:ln>
            <a:noFill/>
          </a:ln>
        </p:spPr>
        <p:txBody>
          <a:bodyPr anchorCtr="0" anchor="t" bIns="91425" lIns="91425" spcFirstLastPara="1" rIns="76850" wrap="square" tIns="91425">
            <a:normAutofit/>
          </a:bodyPr>
          <a:lstStyle/>
          <a:p>
            <a:pPr indent="-342900" lvl="0" marL="457200" rtl="0" algn="just">
              <a:lnSpc>
                <a:spcPct val="90000"/>
              </a:lnSpc>
              <a:spcBef>
                <a:spcPts val="1800"/>
              </a:spcBef>
              <a:spcAft>
                <a:spcPts val="0"/>
              </a:spcAft>
              <a:buClr>
                <a:srgbClr val="222222"/>
              </a:buClr>
              <a:buSzPts val="1800"/>
              <a:buChar char="▪"/>
            </a:pPr>
            <a:r>
              <a:rPr lang="en-IN" sz="1800">
                <a:solidFill>
                  <a:schemeClr val="dk2"/>
                </a:solidFill>
              </a:rPr>
              <a:t>Eco-tourism development requires careful selection of suitable sites to balance tourism growth with environmental conservation.</a:t>
            </a:r>
            <a:endParaRPr sz="1800">
              <a:solidFill>
                <a:schemeClr val="dk2"/>
              </a:solidFill>
            </a:endParaRPr>
          </a:p>
          <a:p>
            <a:pPr indent="-342900" lvl="0" marL="457200" rtl="0" algn="just">
              <a:lnSpc>
                <a:spcPct val="90000"/>
              </a:lnSpc>
              <a:spcBef>
                <a:spcPts val="0"/>
              </a:spcBef>
              <a:spcAft>
                <a:spcPts val="0"/>
              </a:spcAft>
              <a:buClr>
                <a:srgbClr val="222222"/>
              </a:buClr>
              <a:buSzPts val="1800"/>
              <a:buChar char="▪"/>
            </a:pPr>
            <a:r>
              <a:rPr lang="en-IN" sz="1800">
                <a:solidFill>
                  <a:schemeClr val="dk2"/>
                </a:solidFill>
              </a:rPr>
              <a:t>Traditional methods are time-consuming and limited in coverage</a:t>
            </a:r>
            <a:endParaRPr sz="1800">
              <a:solidFill>
                <a:schemeClr val="dk2"/>
              </a:solidFill>
            </a:endParaRPr>
          </a:p>
          <a:p>
            <a:pPr indent="-342900" lvl="0" marL="457200" rtl="0" algn="just">
              <a:lnSpc>
                <a:spcPct val="90000"/>
              </a:lnSpc>
              <a:spcBef>
                <a:spcPts val="0"/>
              </a:spcBef>
              <a:spcAft>
                <a:spcPts val="0"/>
              </a:spcAft>
              <a:buClr>
                <a:srgbClr val="222222"/>
              </a:buClr>
              <a:buSzPts val="1800"/>
              <a:buChar char="▪"/>
            </a:pPr>
            <a:r>
              <a:rPr lang="en-IN" sz="1800">
                <a:solidFill>
                  <a:schemeClr val="dk2"/>
                </a:solidFill>
              </a:rPr>
              <a:t>Using satellite imagery, Digital Elevation Models (DEM), and vegetation indices (NDVI), terrain and vegetation characteristics can be analyzed efficiently. Integrating these datasets with AI techniques like Convolutional Neural Networks (CNNs) allows automated classification of land into Suitable and Not-Suitable areas, providing accurate and data-driven guidance for sustainable eco-tourism planning. </a:t>
            </a:r>
            <a:endParaRPr sz="1800">
              <a:solidFill>
                <a:schemeClr val="dk2"/>
              </a:solidFill>
            </a:endParaRPr>
          </a:p>
        </p:txBody>
      </p:sp>
      <p:sp>
        <p:nvSpPr>
          <p:cNvPr id="139" name="Google Shape;139;g3cf1a03d9ff_0_106"/>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c53bd41426_0_15"/>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Problem Statement</a:t>
            </a:r>
            <a:endParaRPr>
              <a:solidFill>
                <a:schemeClr val="dk2"/>
              </a:solidFill>
            </a:endParaRPr>
          </a:p>
        </p:txBody>
      </p:sp>
      <p:sp>
        <p:nvSpPr>
          <p:cNvPr id="146" name="Google Shape;146;g3c53bd41426_0_15"/>
          <p:cNvSpPr txBox="1"/>
          <p:nvPr>
            <p:ph idx="1" type="body"/>
          </p:nvPr>
        </p:nvSpPr>
        <p:spPr>
          <a:xfrm>
            <a:off x="1104900" y="1848250"/>
            <a:ext cx="10285200" cy="2465100"/>
          </a:xfrm>
          <a:prstGeom prst="rect">
            <a:avLst/>
          </a:prstGeom>
          <a:noFill/>
          <a:ln>
            <a:noFill/>
          </a:ln>
        </p:spPr>
        <p:txBody>
          <a:bodyPr anchorCtr="0" anchor="t" bIns="45700" lIns="0" spcFirstLastPara="1" rIns="0" wrap="square" tIns="45700">
            <a:normAutofit/>
          </a:bodyPr>
          <a:lstStyle/>
          <a:p>
            <a:pPr indent="0" lvl="0" marL="0" rtl="0" algn="just">
              <a:lnSpc>
                <a:spcPct val="90000"/>
              </a:lnSpc>
              <a:spcBef>
                <a:spcPts val="1800"/>
              </a:spcBef>
              <a:spcAft>
                <a:spcPts val="0"/>
              </a:spcAft>
              <a:buSzPts val="1800"/>
              <a:buNone/>
            </a:pPr>
            <a:r>
              <a:rPr lang="en-IN" sz="1800">
                <a:solidFill>
                  <a:schemeClr val="dk2"/>
                </a:solidFill>
              </a:rPr>
              <a:t>Develop a terrain suitability mapping system for eco-tourism development using satellite imagery to identify suitable locations efficiently. Traditional methods depend on manual surveys and field investigations, which are time-consuming, costly, and difficult to perform over large geographic areas. Therefore, an efficient approach is required to analyze terrain characteristics such as elevation, slope, vegetation, and proximity to water bodies to determine suitable areas for eco-tourism development.</a:t>
            </a:r>
            <a:endParaRPr sz="1800">
              <a:solidFill>
                <a:schemeClr val="dk2"/>
              </a:solidFill>
            </a:endParaRPr>
          </a:p>
        </p:txBody>
      </p:sp>
      <p:sp>
        <p:nvSpPr>
          <p:cNvPr id="147" name="Google Shape;147;g3c53bd41426_0_15"/>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c53bd41426_0_24"/>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Objectives</a:t>
            </a:r>
            <a:endParaRPr>
              <a:solidFill>
                <a:schemeClr val="dk2"/>
              </a:solidFill>
            </a:endParaRPr>
          </a:p>
        </p:txBody>
      </p:sp>
      <p:sp>
        <p:nvSpPr>
          <p:cNvPr id="154" name="Google Shape;154;g3c53bd41426_0_2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Autofit/>
          </a:bodyPr>
          <a:lstStyle/>
          <a:p>
            <a:pPr indent="-342900" lvl="0" marL="457200" rtl="0" algn="just">
              <a:lnSpc>
                <a:spcPct val="115000"/>
              </a:lnSpc>
              <a:spcBef>
                <a:spcPts val="1200"/>
              </a:spcBef>
              <a:spcAft>
                <a:spcPts val="0"/>
              </a:spcAft>
              <a:buClr>
                <a:schemeClr val="dk2"/>
              </a:buClr>
              <a:buSzPts val="1800"/>
              <a:buChar char="▪"/>
            </a:pPr>
            <a:r>
              <a:rPr lang="en-IN" sz="1800">
                <a:solidFill>
                  <a:schemeClr val="dk2"/>
                </a:solidFill>
              </a:rPr>
              <a:t>To study terrain suitability analysis techniques for eco-tourism using satellite imagery and DEM data.</a:t>
            </a:r>
            <a:endParaRPr sz="1800">
              <a:solidFill>
                <a:schemeClr val="dk2"/>
              </a:solidFill>
            </a:endParaRPr>
          </a:p>
          <a:p>
            <a:pPr indent="-342900" lvl="0" marL="457200" rtl="0" algn="just">
              <a:lnSpc>
                <a:spcPct val="115000"/>
              </a:lnSpc>
              <a:spcBef>
                <a:spcPts val="0"/>
              </a:spcBef>
              <a:spcAft>
                <a:spcPts val="0"/>
              </a:spcAft>
              <a:buClr>
                <a:schemeClr val="dk2"/>
              </a:buClr>
              <a:buSzPts val="1800"/>
              <a:buChar char="▪"/>
            </a:pPr>
            <a:r>
              <a:rPr lang="en-IN" sz="1800">
                <a:solidFill>
                  <a:schemeClr val="dk2"/>
                </a:solidFill>
              </a:rPr>
              <a:t>To collect and preprocess satellite imagery and Digital Elevation Model (DEM) data     required for terrain analysis.</a:t>
            </a:r>
            <a:endParaRPr sz="1800">
              <a:solidFill>
                <a:schemeClr val="dk2"/>
              </a:solidFill>
            </a:endParaRPr>
          </a:p>
          <a:p>
            <a:pPr indent="-342900" lvl="0" marL="457200" rtl="0" algn="just">
              <a:lnSpc>
                <a:spcPct val="115000"/>
              </a:lnSpc>
              <a:spcBef>
                <a:spcPts val="0"/>
              </a:spcBef>
              <a:spcAft>
                <a:spcPts val="0"/>
              </a:spcAft>
              <a:buClr>
                <a:schemeClr val="dk2"/>
              </a:buClr>
              <a:buSzPts val="1800"/>
              <a:buChar char="▪"/>
            </a:pPr>
            <a:r>
              <a:rPr lang="en-IN" sz="1800">
                <a:solidFill>
                  <a:schemeClr val="dk2"/>
                </a:solidFill>
              </a:rPr>
              <a:t>To develop a Convolutional Neural Network (CNN) model to analyze terrain features such as elevation, slope, vegetation (NDVI), and proximity to water bodies.</a:t>
            </a:r>
            <a:endParaRPr sz="1800">
              <a:solidFill>
                <a:schemeClr val="dk2"/>
              </a:solidFill>
            </a:endParaRPr>
          </a:p>
          <a:p>
            <a:pPr indent="-342900" lvl="0" marL="457200" rtl="0" algn="just">
              <a:lnSpc>
                <a:spcPct val="115000"/>
              </a:lnSpc>
              <a:spcBef>
                <a:spcPts val="0"/>
              </a:spcBef>
              <a:spcAft>
                <a:spcPts val="0"/>
              </a:spcAft>
              <a:buClr>
                <a:schemeClr val="dk2"/>
              </a:buClr>
              <a:buSzPts val="1800"/>
              <a:buChar char="▪"/>
            </a:pPr>
            <a:r>
              <a:rPr lang="en-IN" sz="1800">
                <a:solidFill>
                  <a:schemeClr val="dk2"/>
                </a:solidFill>
              </a:rPr>
              <a:t>To test and evaluate the model by classifying land areas into highly suitable, moderately suitable, and not suitable categories.</a:t>
            </a:r>
            <a:endParaRPr sz="1800">
              <a:solidFill>
                <a:schemeClr val="dk2"/>
              </a:solidFill>
            </a:endParaRPr>
          </a:p>
          <a:p>
            <a:pPr indent="-342900" lvl="0" marL="457200" rtl="0" algn="just">
              <a:lnSpc>
                <a:spcPct val="115000"/>
              </a:lnSpc>
              <a:spcBef>
                <a:spcPts val="0"/>
              </a:spcBef>
              <a:spcAft>
                <a:spcPts val="0"/>
              </a:spcAft>
              <a:buClr>
                <a:schemeClr val="dk2"/>
              </a:buClr>
              <a:buSzPts val="1800"/>
              <a:buChar char="▪"/>
            </a:pPr>
            <a:r>
              <a:rPr lang="en-IN" sz="1800">
                <a:solidFill>
                  <a:schemeClr val="dk2"/>
                </a:solidFill>
              </a:rPr>
              <a:t>To deploy the system to generate terrain suitability maps that help in identifying potential ecotourism locations.</a:t>
            </a:r>
            <a:endParaRPr sz="1800">
              <a:solidFill>
                <a:schemeClr val="dk2"/>
              </a:solidFill>
            </a:endParaRPr>
          </a:p>
          <a:p>
            <a:pPr indent="0" lvl="0" marL="457200" rtl="0" algn="l">
              <a:lnSpc>
                <a:spcPct val="90000"/>
              </a:lnSpc>
              <a:spcBef>
                <a:spcPts val="1800"/>
              </a:spcBef>
              <a:spcAft>
                <a:spcPts val="0"/>
              </a:spcAft>
              <a:buSzPts val="1800"/>
              <a:buNone/>
            </a:pPr>
            <a:r>
              <a:t/>
            </a:r>
            <a:endParaRPr sz="1800">
              <a:solidFill>
                <a:schemeClr val="dk2"/>
              </a:solidFill>
            </a:endParaRPr>
          </a:p>
        </p:txBody>
      </p:sp>
      <p:sp>
        <p:nvSpPr>
          <p:cNvPr id="155" name="Google Shape;155;g3c53bd41426_0_24"/>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c53bd41426_0_33"/>
          <p:cNvSpPr txBox="1"/>
          <p:nvPr>
            <p:ph type="title"/>
          </p:nvPr>
        </p:nvSpPr>
        <p:spPr>
          <a:xfrm>
            <a:off x="1105650" y="17015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t> </a:t>
            </a:r>
            <a:r>
              <a:rPr lang="en-IN">
                <a:solidFill>
                  <a:schemeClr val="dk2"/>
                </a:solidFill>
              </a:rPr>
              <a:t>Literature Review</a:t>
            </a:r>
            <a:endParaRPr>
              <a:solidFill>
                <a:schemeClr val="dk2"/>
              </a:solidFill>
            </a:endParaRPr>
          </a:p>
        </p:txBody>
      </p:sp>
      <p:graphicFrame>
        <p:nvGraphicFramePr>
          <p:cNvPr id="162" name="Google Shape;162;g3c53bd41426_0_33"/>
          <p:cNvGraphicFramePr/>
          <p:nvPr/>
        </p:nvGraphicFramePr>
        <p:xfrm>
          <a:off x="294875" y="1377425"/>
          <a:ext cx="3000000" cy="3000000"/>
        </p:xfrm>
        <a:graphic>
          <a:graphicData uri="http://schemas.openxmlformats.org/drawingml/2006/table">
            <a:tbl>
              <a:tblPr>
                <a:noFill/>
                <a:tableStyleId>{E2E1E792-9E54-4FBC-934C-32BBFCF089D9}</a:tableStyleId>
              </a:tblPr>
              <a:tblGrid>
                <a:gridCol w="559225"/>
                <a:gridCol w="2359300"/>
                <a:gridCol w="968650"/>
                <a:gridCol w="732725"/>
                <a:gridCol w="2837800"/>
                <a:gridCol w="2135425"/>
                <a:gridCol w="1962100"/>
              </a:tblGrid>
              <a:tr h="7028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Sr. no</a:t>
                      </a:r>
                      <a:endParaRPr b="1" sz="16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Title</a:t>
                      </a:r>
                      <a:endParaRPr b="1" sz="16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Authors</a:t>
                      </a:r>
                      <a:endParaRPr b="1" sz="16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Year</a:t>
                      </a:r>
                      <a:endParaRPr b="1" sz="16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Methodology</a:t>
                      </a:r>
                      <a:endParaRPr b="1" sz="16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Advantages</a:t>
                      </a:r>
                      <a:endParaRPr b="1" sz="16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solidFill>
                            <a:schemeClr val="dk2"/>
                          </a:solidFill>
                        </a:rPr>
                        <a:t>Limitations</a:t>
                      </a:r>
                      <a:endParaRPr b="1" sz="1600" u="none" cap="none" strike="noStrike">
                        <a:solidFill>
                          <a:schemeClr val="dk2"/>
                        </a:solidFill>
                      </a:endParaRPr>
                    </a:p>
                  </a:txBody>
                  <a:tcPr marT="91425" marB="91425" marR="91425" marL="91425"/>
                </a:tc>
              </a:tr>
              <a:tr h="922975">
                <a:tc>
                  <a:txBody>
                    <a:bodyPr/>
                    <a:lstStyle/>
                    <a:p>
                      <a:pPr indent="0" lvl="0" marL="0" marR="0" rtl="0" algn="l">
                        <a:lnSpc>
                          <a:spcPct val="100000"/>
                        </a:lnSpc>
                        <a:spcBef>
                          <a:spcPts val="0"/>
                        </a:spcBef>
                        <a:spcAft>
                          <a:spcPts val="0"/>
                        </a:spcAft>
                        <a:buClr>
                          <a:srgbClr val="000000"/>
                        </a:buClr>
                        <a:buSzPts val="1100"/>
                        <a:buFont typeface="Arial"/>
                        <a:buNone/>
                      </a:pPr>
                      <a:r>
                        <a:rPr b="0" lang="en-IN" sz="1100" u="none" cap="none" strike="noStrike">
                          <a:solidFill>
                            <a:schemeClr val="dk2"/>
                          </a:solidFill>
                        </a:rPr>
                        <a:t>1.</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High-resolution mapping of global surface water and its long-term changes</a:t>
                      </a:r>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J.-F. Pekel, Andrew Cottam</a:t>
                      </a:r>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2010</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Processed over 3 million Landsat images  using automated classification to map global surface water dynamics.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Provides 30 m high-resolution, long-term global surface water maps with consistent coverage</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Cloud cover, sensor limitations, and mixed pixels can reduce mapping accuracy in some regions.</a:t>
                      </a:r>
                      <a:endParaRPr/>
                    </a:p>
                  </a:txBody>
                  <a:tcPr marT="91425" marB="91425" marR="91425" marL="91425"/>
                </a:tc>
              </a:tr>
              <a:tr h="115782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2</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A Comprehensive Review of Remote Sensing and Artificial Intelligence Integration: Advances, Applications, and Challenges</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Lei Ma, Yu Liu</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2023</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Reviews AI methods such as machine learning, deep learning, CNNs, and data fusion techniques applied to remote sensing datasets.</a:t>
                      </a:r>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Explains how AI and remote sensing together improve Earth observation analysis.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Some challenges like data scarcity, computational cost, and model interpretability remain unresolved.</a:t>
                      </a:r>
                      <a:endParaRPr/>
                    </a:p>
                  </a:txBody>
                  <a:tcPr marT="91425" marB="91425" marR="91425" marL="91425"/>
                </a:tc>
              </a:tr>
              <a:tr h="103257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3</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Transfer Learning in Earth Observation Data Analysis: A review</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Artur Nowakowski,Maria Pia Del Rosso</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Reviews transfer learning approaches that reuse pre-trained deep learning models for Earth observation image analysis.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Reduces the need for large labeled datasets and improves model performance with limited training samples.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Transfer learning may suffer from domain differences between source and target datasets, reducing accuracy.</a:t>
                      </a:r>
                      <a:endParaRPr b="0" sz="1100" u="none" cap="none" strike="noStrike">
                        <a:solidFill>
                          <a:schemeClr val="dk2"/>
                        </a:solidFill>
                      </a:endParaRPr>
                    </a:p>
                  </a:txBody>
                  <a:tcPr marT="91425" marB="91425" marR="91425" marL="91425"/>
                </a:tc>
              </a:tr>
              <a:tr h="92297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4</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Radar versus optical: The impact of cloud cover when mapping seasonal surface water for health applications in monsoon-affected India</a:t>
                      </a:r>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Gowri Uday, Bethan V. Purse</a:t>
                      </a:r>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Compared Sentinel-1 SAR and Sentinel-2 optical imagery to map seasonal surface water in monsoon regions of India.</a:t>
                      </a:r>
                      <a:endParaRPr b="0" sz="1100" u="none" cap="none" strike="noStrike">
                        <a:solidFill>
                          <a:schemeClr val="dk2"/>
                        </a:solidFill>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Sentinel-1 SAR maps water accurately even under cloud cover, providing more complete seasonal water detection.</a:t>
                      </a:r>
                      <a:endParaRPr b="0" sz="1100" u="none" cap="none" strike="noStrike">
                        <a:solidFill>
                          <a:schemeClr val="dk2"/>
                        </a:solidFill>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SAR imagery may misclassify flooded vegetation or rough surfaces, requiring careful processing and validation.</a:t>
                      </a:r>
                      <a:endParaRPr b="0" sz="1100" u="none" cap="none" strike="noStrike">
                        <a:solidFill>
                          <a:schemeClr val="dk2"/>
                        </a:solidFill>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cf50a3c6bc_0_0"/>
          <p:cNvSpPr txBox="1"/>
          <p:nvPr>
            <p:ph type="title"/>
          </p:nvPr>
        </p:nvSpPr>
        <p:spPr>
          <a:xfrm>
            <a:off x="1105650" y="42415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1800"/>
              <a:buFont typeface="Arial"/>
              <a:buNone/>
            </a:pPr>
            <a:r>
              <a:rPr lang="en-IN">
                <a:solidFill>
                  <a:schemeClr val="dk2"/>
                </a:solidFill>
              </a:rPr>
              <a:t> Literature Review</a:t>
            </a:r>
            <a:endParaRPr>
              <a:solidFill>
                <a:schemeClr val="dk2"/>
              </a:solidFill>
            </a:endParaRPr>
          </a:p>
          <a:p>
            <a:pPr indent="0" lvl="0" marL="0" rtl="0" algn="l">
              <a:lnSpc>
                <a:spcPct val="90000"/>
              </a:lnSpc>
              <a:spcBef>
                <a:spcPts val="0"/>
              </a:spcBef>
              <a:spcAft>
                <a:spcPts val="0"/>
              </a:spcAft>
              <a:buSzPts val="1800"/>
              <a:buNone/>
            </a:pPr>
            <a:r>
              <a:t/>
            </a:r>
            <a:endParaRPr>
              <a:solidFill>
                <a:schemeClr val="dk2"/>
              </a:solidFill>
            </a:endParaRPr>
          </a:p>
        </p:txBody>
      </p:sp>
      <p:sp>
        <p:nvSpPr>
          <p:cNvPr id="169" name="Google Shape;169;g3cf50a3c6bc_0_0"/>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graphicFrame>
        <p:nvGraphicFramePr>
          <p:cNvPr id="170" name="Google Shape;170;g3cf50a3c6bc_0_0"/>
          <p:cNvGraphicFramePr/>
          <p:nvPr/>
        </p:nvGraphicFramePr>
        <p:xfrm>
          <a:off x="234100" y="1336750"/>
          <a:ext cx="3000000" cy="3000000"/>
        </p:xfrm>
        <a:graphic>
          <a:graphicData uri="http://schemas.openxmlformats.org/drawingml/2006/table">
            <a:tbl>
              <a:tblPr>
                <a:noFill/>
                <a:tableStyleId>{E2E1E792-9E54-4FBC-934C-32BBFCF089D9}</a:tableStyleId>
              </a:tblPr>
              <a:tblGrid>
                <a:gridCol w="1674825"/>
                <a:gridCol w="1674825"/>
                <a:gridCol w="1674825"/>
                <a:gridCol w="1674825"/>
                <a:gridCol w="1674825"/>
                <a:gridCol w="1674825"/>
                <a:gridCol w="1674825"/>
              </a:tblGrid>
              <a:tr h="3810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Sr. no</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Title</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Authors</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Year</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Methodology</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Advantages</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Limitations</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5</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Developing an ecological zoning framework for post-pandemic coastal tourism recovery: evidence from 5-year remote sensing and tourism data (2019–2024)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Wang Jing, Zhiwei Zhang</a:t>
                      </a:r>
                      <a:endParaRPr/>
                    </a:p>
                    <a:p>
                      <a:pPr indent="0" lvl="0" marL="0" marR="0" rtl="0" algn="l">
                        <a:lnSpc>
                          <a:spcPct val="100000"/>
                        </a:lnSpc>
                        <a:spcBef>
                          <a:spcPts val="0"/>
                        </a:spcBef>
                        <a:spcAft>
                          <a:spcPts val="0"/>
                        </a:spcAft>
                        <a:buNone/>
                      </a:pPr>
                      <a:br>
                        <a:rPr lang="en-IN" sz="1100" u="none" cap="none" strike="noStrike"/>
                      </a:br>
                      <a:endParaRPr sz="1100" u="none" cap="none" strike="noStrike">
                        <a:solidFill>
                          <a:schemeClr val="dk2"/>
                        </a:solidFill>
                      </a:endParaRPr>
                    </a:p>
                    <a:p>
                      <a:pPr indent="0" lvl="0" marL="0" marR="0" rtl="0" algn="l">
                        <a:lnSpc>
                          <a:spcPct val="100000"/>
                        </a:lnSpc>
                        <a:spcBef>
                          <a:spcPts val="0"/>
                        </a:spcBef>
                        <a:spcAft>
                          <a:spcPts val="0"/>
                        </a:spcAft>
                        <a:buNone/>
                      </a:pPr>
                      <a:br>
                        <a:rPr lang="en-IN" sz="1100" u="none" cap="none" strike="noStrike"/>
                      </a:b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2026</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Used Sentinel-1/2, Landsat, VIIRS nighttime lights, and tourism statistics to evaluate ecological changes and tourism recovery.</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Demonstrates how multi-source satellite data can support sustainable tourism planning.</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The framework depends on availability and accuracy of tourism-related ground data.</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aphicFrame>
        <p:nvGraphicFramePr>
          <p:cNvPr id="176" name="Google Shape;176;g3cdccbfe39c_0_9"/>
          <p:cNvGraphicFramePr/>
          <p:nvPr/>
        </p:nvGraphicFramePr>
        <p:xfrm>
          <a:off x="191600" y="1293450"/>
          <a:ext cx="3000000" cy="3000000"/>
        </p:xfrm>
        <a:graphic>
          <a:graphicData uri="http://schemas.openxmlformats.org/drawingml/2006/table">
            <a:tbl>
              <a:tblPr>
                <a:noFill/>
                <a:tableStyleId>{E2E1E792-9E54-4FBC-934C-32BBFCF089D9}</a:tableStyleId>
              </a:tblPr>
              <a:tblGrid>
                <a:gridCol w="508475"/>
                <a:gridCol w="2702875"/>
                <a:gridCol w="1232100"/>
                <a:gridCol w="943975"/>
                <a:gridCol w="2262825"/>
                <a:gridCol w="2213275"/>
                <a:gridCol w="1945275"/>
              </a:tblGrid>
              <a:tr h="5181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Sr. no</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Title</a:t>
                      </a:r>
                      <a:endParaRPr b="1" sz="16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Authors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Year</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Methodology</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Advantages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Limitations</a:t>
                      </a:r>
                      <a:endParaRPr b="1" sz="1600" u="none" cap="none" strike="noStrike"/>
                    </a:p>
                  </a:txBody>
                  <a:tcPr marT="91425" marB="91425" marR="91425" marL="91425"/>
                </a:tc>
              </a:tr>
              <a:tr h="725275">
                <a:tc>
                  <a:txBody>
                    <a:bodyPr/>
                    <a:lstStyle/>
                    <a:p>
                      <a:pPr indent="0" lvl="0" marL="0" marR="0" rtl="0" algn="l">
                        <a:lnSpc>
                          <a:spcPct val="100000"/>
                        </a:lnSpc>
                        <a:spcBef>
                          <a:spcPts val="0"/>
                        </a:spcBef>
                        <a:spcAft>
                          <a:spcPts val="0"/>
                        </a:spcAft>
                        <a:buClr>
                          <a:srgbClr val="000000"/>
                        </a:buClr>
                        <a:buSzPts val="1100"/>
                        <a:buFont typeface="Arial"/>
                        <a:buNone/>
                      </a:pPr>
                      <a:r>
                        <a:rPr b="0" lang="en-IN" sz="1100" u="none" cap="none" strike="noStrike">
                          <a:solidFill>
                            <a:schemeClr val="dk2"/>
                          </a:solidFill>
                        </a:rPr>
                        <a:t>1.</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Use of Satellite Imagery for DEM Extraction, Landscape Modeling and GIS Applications</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D. Poli, F. Remondino, C. Dolci</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chemeClr val="dk2"/>
                          </a:solidFill>
                        </a:rPr>
                        <a:t>    </a:t>
                      </a:r>
                      <a:r>
                        <a:rPr lang="en-IN" sz="1100" u="none" cap="none" strike="noStrike">
                          <a:solidFill>
                            <a:schemeClr val="dk2"/>
                          </a:solidFill>
                        </a:rPr>
                        <a:t>2004</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DEM generated from satellite stereo images and integrated into GIS for terrain modeling.</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Accurate DEM for terrain analysis and landscape modeling.</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Older methods; limited automation; does not include vegetation analysis or AI-based modeling.</a:t>
                      </a:r>
                      <a:endParaRPr sz="1100" u="none" cap="none" strike="noStrike">
                        <a:solidFill>
                          <a:schemeClr val="dk2"/>
                        </a:solidFill>
                      </a:endParaRPr>
                    </a:p>
                  </a:txBody>
                  <a:tcPr marT="91425" marB="91425" marR="91425" marL="91425"/>
                </a:tc>
              </a:tr>
              <a:tr h="4626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2</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Analysis of Vegetation Changes Using Satellite Imagery and NDVI</a:t>
                      </a:r>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S. T. C. Wirawan, H. P. Chernovita</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chemeClr val="dk2"/>
                          </a:solidFill>
                        </a:rPr>
                        <a:t> </a:t>
                      </a:r>
                      <a:r>
                        <a:rPr lang="en-IN" sz="1000" u="none" cap="none" strike="noStrike">
                          <a:solidFill>
                            <a:schemeClr val="dk2"/>
                          </a:solidFill>
                        </a:rPr>
                        <a:t>   </a:t>
                      </a:r>
                      <a:r>
                        <a:rPr lang="en-IN" sz="1100" u="none" cap="none" strike="noStrike">
                          <a:solidFill>
                            <a:schemeClr val="dk2"/>
                          </a:solidFill>
                        </a:rPr>
                        <a:t>2023</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NDVI from satellites used to monitor vegetation health and land cover changes.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Provides a practical method for monitoring vegetation dynamics; simple and widely applicable.</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Results can be affected by atmospheric conditions and seasonal variations; limited automation and predictive capabilities.</a:t>
                      </a:r>
                      <a:endParaRPr/>
                    </a:p>
                  </a:txBody>
                  <a:tcPr marT="91425" marB="91425" marR="91425" marL="91425"/>
                </a:tc>
              </a:tr>
              <a:tr h="4626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3</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Leveraging Multi-Temporal Sentinel-1 and Sentinel-2 Satellite Data for Leaf Area Index Estimation With Deep Learning</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Clement Wang, Antoine Debouchage</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chemeClr val="dk2"/>
                          </a:solidFill>
                        </a:rPr>
                        <a:t>   </a:t>
                      </a:r>
                      <a:r>
                        <a:rPr lang="en-IN" sz="1100" u="none" cap="none" strike="noStrike">
                          <a:solidFill>
                            <a:schemeClr val="dk2"/>
                          </a:solidFill>
                        </a:rPr>
                        <a:t>2024</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Used multi-temporal Sentinel-1 + Sentinel-2 data with deep neural networks to model vegetation dynamics and seasonal variations.</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Deep learning captures seasonal patterns and improves prediction compared with single-date imagery</a:t>
                      </a:r>
                      <a:r>
                        <a:rPr b="0" lang="en-IN" sz="1100" u="none" cap="none" strike="noStrike">
                          <a:solidFill>
                            <a:schemeClr val="dk2"/>
                          </a:solidFill>
                        </a:rPr>
                        <a:t>.</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Requires large training datasets and high computational resources.</a:t>
                      </a:r>
                      <a:endParaRPr b="0" sz="1100" u="none" cap="none" strike="noStrike">
                        <a:solidFill>
                          <a:schemeClr val="dk2"/>
                        </a:solidFill>
                      </a:endParaRPr>
                    </a:p>
                  </a:txBody>
                  <a:tcPr marT="91425" marB="91425" marR="91425" marL="91425"/>
                </a:tc>
              </a:tr>
              <a:tr h="4626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4</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Application of Deep Learning, Machine Learning and Multi-Criteria Decision Analysis for Ecotourism Potentiality Assessment: A Case Study of the Sundarban Biosphere Reserve, India </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Arup Baidya, </a:t>
                      </a:r>
                      <a:endParaRPr/>
                    </a:p>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Ashis Kumar Saha</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solidFill>
                            <a:schemeClr val="dk2"/>
                          </a:solidFill>
                        </a:rPr>
                        <a:t>    </a:t>
                      </a:r>
                      <a:r>
                        <a:rPr lang="en-IN" sz="1100" u="none" cap="none" strike="noStrike">
                          <a:solidFill>
                            <a:schemeClr val="dk2"/>
                          </a:solidFill>
                        </a:rPr>
                        <a:t>2025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Integrated Sentinel-2 imagery, vegetation indicators (NDVI), DEM, rainfall, GIS data, and AI models (DLNN and XGBoost) for automated ecotourism suitability mapping</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Uses AI-based prediction and vegetation analysis to overcome limitations of traditional tourism assessment methods</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Requires high-quality training data and multiple environmental datasets for reliable prediction</a:t>
                      </a:r>
                      <a:endParaRPr b="0" sz="1100" u="none" cap="none" strike="noStrike">
                        <a:solidFill>
                          <a:schemeClr val="dk2"/>
                        </a:solidFill>
                      </a:endParaRPr>
                    </a:p>
                  </a:txBody>
                  <a:tcPr marT="91425" marB="91425" marR="91425" marL="91425"/>
                </a:tc>
              </a:tr>
              <a:tr h="4626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5</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Digital Elevation Model Estimation from RGB Satellite Imagery Using Generative Deep Learning</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 Madani</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IN" sz="1000" u="none" cap="none" strike="noStrike">
                          <a:solidFill>
                            <a:schemeClr val="dk2"/>
                          </a:solidFill>
                        </a:rPr>
                        <a:t>    </a:t>
                      </a:r>
                      <a:r>
                        <a:rPr lang="en-IN" sz="1100" u="none" cap="none" strike="noStrike">
                          <a:solidFill>
                            <a:schemeClr val="dk2"/>
                          </a:solidFill>
                        </a:rPr>
                        <a:t>2025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Generative deep learning to estimate DEM from RGB images </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Provides DEM even without traditional DEM sources</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Requires large training dataset; may vary with terrain types</a:t>
                      </a:r>
                      <a:endParaRPr sz="1100" u="none" cap="none" strike="noStrike">
                        <a:solidFill>
                          <a:schemeClr val="dk2"/>
                        </a:solidFill>
                      </a:endParaRPr>
                    </a:p>
                  </a:txBody>
                  <a:tcPr marT="91425" marB="91425" marR="91425" marL="91425"/>
                </a:tc>
              </a:tr>
            </a:tbl>
          </a:graphicData>
        </a:graphic>
      </p:graphicFrame>
      <p:sp>
        <p:nvSpPr>
          <p:cNvPr id="177" name="Google Shape;177;g3cdccbfe39c_0_9"/>
          <p:cNvSpPr txBox="1"/>
          <p:nvPr/>
        </p:nvSpPr>
        <p:spPr>
          <a:xfrm>
            <a:off x="1104900" y="743475"/>
            <a:ext cx="3363000" cy="960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800"/>
              <a:buFont typeface="Arial"/>
              <a:buNone/>
            </a:pPr>
            <a:r>
              <a:rPr b="0" i="0" lang="en-IN" sz="2800" u="none" cap="none" strike="noStrike">
                <a:solidFill>
                  <a:schemeClr val="dk2"/>
                </a:solidFill>
                <a:latin typeface="Arial"/>
                <a:ea typeface="Arial"/>
                <a:cs typeface="Arial"/>
                <a:sym typeface="Arial"/>
              </a:rPr>
              <a:t>Literature Review</a:t>
            </a:r>
            <a:endParaRPr b="0" i="0" sz="2800" u="none" cap="none" strike="noStrike">
              <a:solidFill>
                <a:schemeClr val="dk2"/>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aphicFrame>
        <p:nvGraphicFramePr>
          <p:cNvPr id="183" name="Google Shape;183;g3cf1a03d9ff_0_49"/>
          <p:cNvGraphicFramePr/>
          <p:nvPr/>
        </p:nvGraphicFramePr>
        <p:xfrm>
          <a:off x="222951" y="1307910"/>
          <a:ext cx="3000000" cy="3000000"/>
        </p:xfrm>
        <a:graphic>
          <a:graphicData uri="http://schemas.openxmlformats.org/drawingml/2006/table">
            <a:tbl>
              <a:tblPr>
                <a:noFill/>
                <a:tableStyleId>{E2E1E792-9E54-4FBC-934C-32BBFCF089D9}</a:tableStyleId>
              </a:tblPr>
              <a:tblGrid>
                <a:gridCol w="601650"/>
                <a:gridCol w="1883375"/>
                <a:gridCol w="1689400"/>
                <a:gridCol w="928950"/>
                <a:gridCol w="2619900"/>
                <a:gridCol w="1961700"/>
                <a:gridCol w="2139500"/>
              </a:tblGrid>
              <a:tr h="718975">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Sr. no</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Title</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Authors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Year</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Methodology</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Advantages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Limitations</a:t>
                      </a:r>
                      <a:endParaRPr b="1" sz="1600" u="none" cap="none" strike="noStrike"/>
                    </a:p>
                  </a:txBody>
                  <a:tcPr marT="91425" marB="91425" marR="91425" marL="91425"/>
                </a:tc>
              </a:tr>
              <a:tr h="898450">
                <a:tc>
                  <a:txBody>
                    <a:bodyPr/>
                    <a:lstStyle/>
                    <a:p>
                      <a:pPr indent="0" lvl="0" marL="0" marR="0" rtl="0" algn="l">
                        <a:lnSpc>
                          <a:spcPct val="100000"/>
                        </a:lnSpc>
                        <a:spcBef>
                          <a:spcPts val="0"/>
                        </a:spcBef>
                        <a:spcAft>
                          <a:spcPts val="0"/>
                        </a:spcAft>
                        <a:buClr>
                          <a:srgbClr val="000000"/>
                        </a:buClr>
                        <a:buSzPts val="1100"/>
                        <a:buFont typeface="Arial"/>
                        <a:buNone/>
                      </a:pPr>
                      <a:r>
                        <a:rPr b="0" lang="en-IN" sz="1100" u="none" cap="none" strike="noStrike">
                          <a:solidFill>
                            <a:schemeClr val="dk2"/>
                          </a:solidFill>
                        </a:rPr>
                        <a:t>1.</a:t>
                      </a:r>
                      <a:endParaRPr sz="14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Deep learning-based classification of hyperspectral data</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Yushi Chen, Zhouhan Lin, Xing Zhao, Gang Wang, and Yanfeng Gu</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2014</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Uses stacked autoencoders (deep learning) to extract spectral and spatial features from hyperspectral satellite images for land-cover classification.</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Introduces deep learning for hyperspectral satellite data classification using spectral and spatial features.</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Focuses on hyperspectral classification rather than eco-tourism suitability mapping.</a:t>
                      </a:r>
                      <a:endParaRPr b="0" sz="1100" u="none" cap="none" strike="noStrike">
                        <a:solidFill>
                          <a:schemeClr val="dk2"/>
                        </a:solidFill>
                      </a:endParaRPr>
                    </a:p>
                  </a:txBody>
                  <a:tcPr marT="91425" marB="91425" marR="91425" marL="91425"/>
                </a:tc>
              </a:tr>
              <a:tr h="8984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2</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Remote sensing image scene classification using CNN-CapsNet</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Yongsheng Zhang, Hong Zhang, Liangpei Zhang</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2019</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Proposes a hybrid CNN + Capsule Network architecture to extract image features and capture spatial relationships for satellite scene classification.</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Combines CNN and Capsule Networks to improve satellite image scene classification accuracy.</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More computationally complex and requires higher training resources.</a:t>
                      </a:r>
                      <a:endParaRPr b="0" sz="1100" u="none" cap="none" strike="noStrike">
                        <a:solidFill>
                          <a:schemeClr val="dk2"/>
                        </a:solidFill>
                      </a:endParaRPr>
                    </a:p>
                  </a:txBody>
                  <a:tcPr marT="91425" marB="91425" marR="91425" marL="91425"/>
                </a:tc>
              </a:tr>
              <a:tr h="54552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3</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Review on convolutional neural networks in vegetation remote sensing</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Teja Kattenborn, Jens Leitloff, Florian Schiefer, Stefan Hinz</a:t>
                      </a:r>
                      <a:endParaRPr b="0" sz="1100" u="none" cap="none" strike="noStrike">
                        <a:solidFill>
                          <a:schemeClr val="dk2"/>
                        </a:solidFill>
                      </a:endParaRPr>
                    </a:p>
                    <a:p>
                      <a:pPr indent="0" lvl="0" marL="0" marR="0" rtl="0" algn="l">
                        <a:lnSpc>
                          <a:spcPct val="100000"/>
                        </a:lnSpc>
                        <a:spcBef>
                          <a:spcPts val="0"/>
                        </a:spcBef>
                        <a:spcAft>
                          <a:spcPts val="0"/>
                        </a:spcAft>
                        <a:buClr>
                          <a:srgbClr val="000000"/>
                        </a:buClr>
                        <a:buSzPts val="1100"/>
                        <a:buFont typeface="Arial"/>
                        <a:buNone/>
                      </a:pPr>
                      <a:r>
                        <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2021</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Conducts a review of CNN-based approaches for vegetation detection and monitoring using satellite and UAV imagery.</a:t>
                      </a:r>
                      <a:endParaRPr/>
                    </a:p>
                    <a:p>
                      <a:pPr indent="0" lvl="0" marL="0" marR="0" rtl="0" algn="l">
                        <a:lnSpc>
                          <a:spcPct val="100000"/>
                        </a:lnSpc>
                        <a:spcBef>
                          <a:spcPts val="0"/>
                        </a:spcBef>
                        <a:spcAft>
                          <a:spcPts val="0"/>
                        </a:spcAft>
                        <a:buClr>
                          <a:srgbClr val="000000"/>
                        </a:buClr>
                        <a:buSzPts val="1600"/>
                        <a:buFont typeface="Arial"/>
                        <a:buNone/>
                      </a:pPr>
                      <a:r>
                        <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Demonstrates CNN-based vegetation detection using satellite imagery and NDVI analysis.</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2"/>
                          </a:solidFill>
                          <a:latin typeface="Arial"/>
                          <a:ea typeface="Arial"/>
                          <a:cs typeface="Arial"/>
                          <a:sym typeface="Arial"/>
                        </a:rPr>
                        <a:t>. Focuses mainly on vegetation monitoring rather than full terrain suitability analysis.</a:t>
                      </a:r>
                      <a:endParaRPr b="0" sz="1100" u="none" cap="none" strike="noStrike">
                        <a:solidFill>
                          <a:schemeClr val="dk2"/>
                        </a:solidFill>
                      </a:endParaRPr>
                    </a:p>
                  </a:txBody>
                  <a:tcPr marT="91425" marB="91425" marR="91425" marL="91425"/>
                </a:tc>
              </a:tr>
              <a:tr h="75095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4</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Potential suitability mapping evaluation for ecotourism development in Darjeeling Himalayan region of India</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Teja Kattenborn, Jens Leitloff, Florian Schiefer, Stefan Hinz</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2023</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rgbClr val="000000"/>
                          </a:solidFill>
                          <a:latin typeface="Arial"/>
                          <a:ea typeface="Arial"/>
                          <a:cs typeface="Arial"/>
                          <a:sym typeface="Arial"/>
                        </a:rPr>
                        <a:t>Integrated remote sensing, GIS, and multi-criteria decision analysis using elevation, slope,climate,factors for ecotourism suitability mapping</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Goes beyond vegetation/hyperspectral classification by producing spatial suitability zones for tourism planning</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Relies on expert-based weighting methods rather than fully automated AI prediction. </a:t>
                      </a:r>
                      <a:endParaRPr b="0" sz="1100" u="none" cap="none" strike="noStrike">
                        <a:solidFill>
                          <a:schemeClr val="dk2"/>
                        </a:solidFill>
                      </a:endParaRPr>
                    </a:p>
                  </a:txBody>
                  <a:tcPr marT="91425" marB="91425" marR="91425" marL="91425"/>
                </a:tc>
              </a:tr>
              <a:tr h="89847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5</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None/>
                      </a:pPr>
                      <a:r>
                        <a:rPr b="0" i="0" lang="en-IN" sz="1100" u="none" cap="none" strike="noStrike">
                          <a:solidFill>
                            <a:srgbClr val="000000"/>
                          </a:solidFill>
                          <a:latin typeface="Arial"/>
                          <a:ea typeface="Arial"/>
                          <a:cs typeface="Arial"/>
                          <a:sym typeface="Arial"/>
                        </a:rPr>
                        <a:t>Spatial Multi-Criteria Site Selection for Ecotourism Suitability Mapping </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t>Ayub Mohammadi </a:t>
                      </a:r>
                      <a:r>
                        <a:rPr baseline="30000" lang="en-IN" sz="1400" u="none" cap="none" strike="noStrike"/>
                        <a:t>,</a:t>
                      </a:r>
                      <a:r>
                        <a:rPr b="0" i="0" lang="en-IN" sz="1400" u="none" cap="none" strike="noStrike">
                          <a:solidFill>
                            <a:srgbClr val="000000"/>
                          </a:solidFill>
                          <a:latin typeface="Arial"/>
                          <a:ea typeface="Arial"/>
                          <a:cs typeface="Arial"/>
                          <a:sym typeface="Arial"/>
                        </a:rPr>
                        <a:t> </a:t>
                      </a:r>
                      <a:r>
                        <a:rPr lang="en-IN" sz="1100" u="none" cap="none" strike="noStrike"/>
                        <a:t>Davood Jamini </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chemeClr val="dk2"/>
                          </a:solidFill>
                          <a:latin typeface="Arial"/>
                          <a:ea typeface="Arial"/>
                          <a:cs typeface="Arial"/>
                          <a:sym typeface="Arial"/>
                        </a:rPr>
                        <a:t>2026</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100" u="none" cap="none" strike="noStrike">
                          <a:solidFill>
                            <a:srgbClr val="000000"/>
                          </a:solidFill>
                          <a:latin typeface="Arial"/>
                          <a:ea typeface="Arial"/>
                          <a:cs typeface="Arial"/>
                          <a:sym typeface="Arial"/>
                        </a:rPr>
                        <a:t>Combined Sentinel-2, terrain, land use, environmental factors, and machine learning for eco-tourism suitability mapping</a:t>
                      </a:r>
                      <a:r>
                        <a:rPr b="1" i="0" lang="en-IN" sz="1400" u="none" cap="none" strike="noStrike">
                          <a:solidFill>
                            <a:srgbClr val="000000"/>
                          </a:solidFill>
                          <a:latin typeface="Arial"/>
                          <a:ea typeface="Arial"/>
                          <a:cs typeface="Arial"/>
                          <a:sym typeface="Arial"/>
                        </a:rPr>
                        <a:t>.</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Provides complete terrain suitability analysis rather than only vegetation assessment.</a:t>
                      </a:r>
                      <a:endParaRPr b="0"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Arial"/>
                          <a:ea typeface="Arial"/>
                          <a:cs typeface="Arial"/>
                          <a:sym typeface="Arial"/>
                        </a:rPr>
                        <a:t>Model accuracy depends on selected environmental criteria and field validation data.</a:t>
                      </a:r>
                      <a:endParaRPr b="0" sz="1100" u="none" cap="none" strike="noStrike">
                        <a:solidFill>
                          <a:schemeClr val="dk2"/>
                        </a:solidFill>
                      </a:endParaRPr>
                    </a:p>
                  </a:txBody>
                  <a:tcPr marT="91425" marB="91425" marR="91425" marL="91425"/>
                </a:tc>
              </a:tr>
            </a:tbl>
          </a:graphicData>
        </a:graphic>
      </p:graphicFrame>
      <p:sp>
        <p:nvSpPr>
          <p:cNvPr id="184" name="Google Shape;184;g3cf1a03d9ff_0_49"/>
          <p:cNvSpPr txBox="1"/>
          <p:nvPr/>
        </p:nvSpPr>
        <p:spPr>
          <a:xfrm>
            <a:off x="1104900" y="743475"/>
            <a:ext cx="3363000" cy="960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800"/>
              <a:buFont typeface="Arial"/>
              <a:buNone/>
            </a:pPr>
            <a:r>
              <a:rPr b="0" i="0" lang="en-IN" sz="2800" u="none" cap="none" strike="noStrike">
                <a:solidFill>
                  <a:schemeClr val="dk2"/>
                </a:solidFill>
                <a:latin typeface="Arial"/>
                <a:ea typeface="Arial"/>
                <a:cs typeface="Arial"/>
                <a:sym typeface="Arial"/>
              </a:rPr>
              <a:t>Literature Review</a:t>
            </a:r>
            <a:endParaRPr b="0" i="0" sz="2800" u="none" cap="none" strike="noStrike">
              <a:solidFill>
                <a:schemeClr val="dk2"/>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g3cf1a03d9ff_0_55"/>
          <p:cNvGraphicFramePr/>
          <p:nvPr/>
        </p:nvGraphicFramePr>
        <p:xfrm>
          <a:off x="202050" y="1302700"/>
          <a:ext cx="3000000" cy="3000000"/>
        </p:xfrm>
        <a:graphic>
          <a:graphicData uri="http://schemas.openxmlformats.org/drawingml/2006/table">
            <a:tbl>
              <a:tblPr>
                <a:noFill/>
                <a:tableStyleId>{E2E1E792-9E54-4FBC-934C-32BBFCF089D9}</a:tableStyleId>
              </a:tblPr>
              <a:tblGrid>
                <a:gridCol w="544825"/>
                <a:gridCol w="2869575"/>
                <a:gridCol w="1276800"/>
                <a:gridCol w="872875"/>
                <a:gridCol w="2206800"/>
                <a:gridCol w="1847975"/>
                <a:gridCol w="2189925"/>
              </a:tblGrid>
              <a:tr h="5494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Sr. no</a:t>
                      </a:r>
                      <a:endParaRPr b="1"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Title</a:t>
                      </a:r>
                      <a:endParaRPr b="1" sz="16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Authors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Year</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Methodology</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Advantages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Limitations</a:t>
                      </a:r>
                      <a:endParaRPr b="1" sz="1600" u="none" cap="none" strike="noStrike"/>
                    </a:p>
                  </a:txBody>
                  <a:tcPr marT="91425" marB="91425" marR="91425" marL="91425"/>
                </a:tc>
              </a:tr>
              <a:tr h="1225350">
                <a:tc>
                  <a:txBody>
                    <a:bodyPr/>
                    <a:lstStyle/>
                    <a:p>
                      <a:pPr indent="0" lvl="0" marL="0" marR="0" rtl="0" algn="l">
                        <a:lnSpc>
                          <a:spcPct val="100000"/>
                        </a:lnSpc>
                        <a:spcBef>
                          <a:spcPts val="0"/>
                        </a:spcBef>
                        <a:spcAft>
                          <a:spcPts val="0"/>
                        </a:spcAft>
                        <a:buClr>
                          <a:srgbClr val="000000"/>
                        </a:buClr>
                        <a:buSzPts val="1100"/>
                        <a:buFont typeface="Arial"/>
                        <a:buNone/>
                      </a:pPr>
                      <a:r>
                        <a:rPr b="0" lang="en-IN" sz="1100" u="none" cap="none" strike="noStrike">
                          <a:solidFill>
                            <a:schemeClr val="dk2"/>
                          </a:solidFill>
                        </a:rPr>
                        <a:t>1.</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Study on Ecological and Environmental Suitability of Tourism Resources Development in Lijiang River Basin of Guilin, China</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N. Li, J. Y. Wang</a:t>
                      </a:r>
                      <a:endParaRPr b="1"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2020</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Uses Remote Sensing (RS) and GIS-based ecological suitability evaluation for tourism resource development.</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evaluates tourism development potential while considering ecological and environmental sustainability</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the assessment is largely dependent on selected environmental indicators and may not fully incorporate socio-economic or stakeholder perspectives</a:t>
                      </a:r>
                      <a:endParaRPr sz="1100" u="none" cap="none" strike="noStrike">
                        <a:solidFill>
                          <a:schemeClr val="dk2"/>
                        </a:solidFill>
                      </a:endParaRPr>
                    </a:p>
                  </a:txBody>
                  <a:tcPr marT="91425" marB="91425" marR="91425" marL="91425"/>
                </a:tc>
              </a:tr>
              <a:tr h="1236125">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2</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Geospatial Analysis of Geo-Ecotourism Site Suitability Using AHP and GIS for Sustainable and Resilient Tourism Planning in West Bengal, India</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Aditi Acharya</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2022</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Uses Analytic Hierarchy Process (AHP) with GIS and remote sensing data for multi-criteria site suitability analysis of ecotourism zones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Satellite imagery enables large-scale and cost-effective extraction of DEM data for terrain analysis and landscape modeling.</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DEM accuracy can be affected by image resolution, sensor errors, and complex terrain conditions</a:t>
                      </a:r>
                      <a:endParaRPr sz="1100" u="none" cap="none" strike="noStrike">
                        <a:solidFill>
                          <a:schemeClr val="dk2"/>
                        </a:solidFill>
                      </a:endParaRPr>
                    </a:p>
                  </a:txBody>
                  <a:tcPr marT="91425" marB="91425" marR="91425" marL="91425"/>
                </a:tc>
              </a:tr>
              <a:tr h="51810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3</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Assessing Sustainable Ecotourism Opportunities in Western Rajasthan, India, through Advanced Geospatial Technologies</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uFill>
                            <a:noFill/>
                          </a:uFill>
                          <a:hlinkClick r:id="rId3">
                            <a:extLst>
                              <a:ext uri="{A12FA001-AC4F-418D-AE19-62706E023703}">
                                <ahyp:hlinkClr val="tx"/>
                              </a:ext>
                            </a:extLst>
                          </a:hlinkClick>
                        </a:rPr>
                        <a:t>Rajeev Singh Chandel</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2023</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Uses GIS and Remote Sensing with weighted overlay analysis of multiple thematic layers to generate ecotourism suitability maps.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integrates multiple geospatial datasets for objective site identification</a:t>
                      </a:r>
                      <a:endParaRPr sz="1100" u="none" cap="none" strike="noStrike">
                        <a:solidFill>
                          <a:schemeClr val="dk2"/>
                        </a:solidFill>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results depend heavily on data quality and may overlook socio-cultural factors.</a:t>
                      </a:r>
                      <a:endParaRPr sz="1100" u="none" cap="none" strike="noStrike">
                        <a:solidFill>
                          <a:schemeClr val="dk2"/>
                        </a:solidFill>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r>
              <a:tr h="518100">
                <a:tc>
                  <a:txBody>
                    <a:bodyPr/>
                    <a:lstStyle/>
                    <a:p>
                      <a:pPr indent="0" lvl="0" marL="0" marR="0" rtl="0" algn="l">
                        <a:lnSpc>
                          <a:spcPct val="100000"/>
                        </a:lnSpc>
                        <a:spcBef>
                          <a:spcPts val="0"/>
                        </a:spcBef>
                        <a:spcAft>
                          <a:spcPts val="0"/>
                        </a:spcAft>
                        <a:buClr>
                          <a:srgbClr val="000000"/>
                        </a:buClr>
                        <a:buSzPts val="1600"/>
                        <a:buFont typeface="Arial"/>
                        <a:buNone/>
                      </a:pPr>
                      <a:r>
                        <a:rPr b="0" lang="en-IN" sz="1100" u="none" cap="none" strike="noStrike">
                          <a:solidFill>
                            <a:schemeClr val="dk2"/>
                          </a:solidFill>
                        </a:rPr>
                        <a:t>4</a:t>
                      </a:r>
                      <a:endParaRPr b="0"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An Approach for Mapping Ecotourism Suitability Using Machine Learning: A Case Study of Zhangjiajie, China</a:t>
                      </a:r>
                      <a:endParaRPr sz="1100" u="none" cap="none" strike="noStrike">
                        <a:solidFill>
                          <a:schemeClr val="dk2"/>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 Qin Huang</a:t>
                      </a:r>
                      <a:endParaRPr sz="1100" u="none" cap="none" strike="noStrike">
                        <a:solidFill>
                          <a:schemeClr val="dk2"/>
                        </a:solidFill>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2024</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 Uses machine learning models with multi-source geospatial data to classify ecotourism suitability zones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lang="en-IN" sz="1100" u="none" cap="none" strike="noStrike">
                          <a:solidFill>
                            <a:schemeClr val="dk2"/>
                          </a:solidFill>
                        </a:rPr>
                        <a:t>machine learning improves prediction accuracy and captures complex relationships between variables</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requires large, high-quality datasets and the model may be difficult to interpret.</a:t>
                      </a:r>
                      <a:endParaRPr sz="1100" u="none" cap="none" strike="noStrike">
                        <a:solidFill>
                          <a:schemeClr val="dk2"/>
                        </a:solidFill>
                      </a:endParaRPr>
                    </a:p>
                    <a:p>
                      <a:pPr indent="0" lvl="0" marL="0" marR="0" rtl="0" algn="l">
                        <a:lnSpc>
                          <a:spcPct val="115000"/>
                        </a:lnSpc>
                        <a:spcBef>
                          <a:spcPts val="0"/>
                        </a:spcBef>
                        <a:spcAft>
                          <a:spcPts val="0"/>
                        </a:spcAft>
                        <a:buClr>
                          <a:srgbClr val="000000"/>
                        </a:buClr>
                        <a:buSzPts val="1100"/>
                        <a:buFont typeface="Arial"/>
                        <a:buNone/>
                      </a:pPr>
                      <a:r>
                        <a:t/>
                      </a:r>
                      <a:endParaRPr sz="1100" u="none" cap="none" strike="noStrike">
                        <a:solidFill>
                          <a:schemeClr val="dk2"/>
                        </a:solidFill>
                      </a:endParaRPr>
                    </a:p>
                  </a:txBody>
                  <a:tcPr marT="91425" marB="91425" marR="91425" marL="91425"/>
                </a:tc>
              </a:tr>
            </a:tbl>
          </a:graphicData>
        </a:graphic>
      </p:graphicFrame>
      <p:sp>
        <p:nvSpPr>
          <p:cNvPr id="191" name="Google Shape;191;g3cf1a03d9ff_0_55"/>
          <p:cNvSpPr txBox="1"/>
          <p:nvPr/>
        </p:nvSpPr>
        <p:spPr>
          <a:xfrm>
            <a:off x="1104900" y="743475"/>
            <a:ext cx="3363000" cy="960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800"/>
              <a:buFont typeface="Arial"/>
              <a:buNone/>
            </a:pPr>
            <a:r>
              <a:rPr b="0" i="0" lang="en-IN" sz="2800" u="none" cap="none" strike="noStrike">
                <a:solidFill>
                  <a:schemeClr val="dk2"/>
                </a:solidFill>
                <a:latin typeface="Arial"/>
                <a:ea typeface="Arial"/>
                <a:cs typeface="Arial"/>
                <a:sym typeface="Arial"/>
              </a:rPr>
              <a:t>Literature Review</a:t>
            </a:r>
            <a:endParaRPr b="0" i="0" sz="2800" u="none" cap="none" strike="noStrike">
              <a:solidFill>
                <a:schemeClr val="dk2"/>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graphicFrame>
        <p:nvGraphicFramePr>
          <p:cNvPr id="197" name="Google Shape;197;g3cf1a03d9ff_0_92"/>
          <p:cNvGraphicFramePr/>
          <p:nvPr/>
        </p:nvGraphicFramePr>
        <p:xfrm>
          <a:off x="202050" y="1302700"/>
          <a:ext cx="3000000" cy="3000000"/>
        </p:xfrm>
        <a:graphic>
          <a:graphicData uri="http://schemas.openxmlformats.org/drawingml/2006/table">
            <a:tbl>
              <a:tblPr>
                <a:noFill/>
                <a:tableStyleId>{E2E1E792-9E54-4FBC-934C-32BBFCF089D9}</a:tableStyleId>
              </a:tblPr>
              <a:tblGrid>
                <a:gridCol w="770850"/>
                <a:gridCol w="2659675"/>
                <a:gridCol w="1260675"/>
                <a:gridCol w="872875"/>
                <a:gridCol w="2206800"/>
                <a:gridCol w="1847975"/>
                <a:gridCol w="2189925"/>
              </a:tblGrid>
              <a:tr h="5494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Sr. no.</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Title</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Authors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   Year</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Methodology</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Advantages</a:t>
                      </a:r>
                      <a:endParaRPr b="1"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Limitations</a:t>
                      </a:r>
                      <a:endParaRPr b="1" sz="1600" u="none" cap="none" strike="noStrike"/>
                    </a:p>
                  </a:txBody>
                  <a:tcPr marT="91425" marB="91425" marR="91425" marL="91425"/>
                </a:tc>
              </a:tr>
              <a:tr h="549400">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New Horizons for Ecotourism in Sikkim: An Integrated MCDA Approach</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Deepa Rai</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2025</a:t>
                      </a:r>
                      <a:endParaRPr sz="11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IN" sz="1100" u="none" cap="none" strike="noStrike">
                          <a:solidFill>
                            <a:schemeClr val="dk2"/>
                          </a:solidFill>
                        </a:rPr>
                        <a:t>Uses Integrated MCDA methods including AHP and DEMATEL with GIS to evaluate multiple environmental and socio-economic factors for ecotourism suitability mapping</a:t>
                      </a:r>
                      <a:endParaRPr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lang="en-IN" sz="1100" u="none" cap="none" strike="noStrike">
                          <a:solidFill>
                            <a:schemeClr val="dk2"/>
                          </a:solidFill>
                        </a:rPr>
                        <a:t>MCDA combines environmental, economic, and accessibility factors for balanced decision-making</a:t>
                      </a:r>
                      <a:endParaRPr sz="1100" u="none" cap="none" strike="noStrike">
                        <a:solidFill>
                          <a:schemeClr val="dk2"/>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2"/>
                        </a:solidFill>
                      </a:endParaRPr>
                    </a:p>
                  </a:txBody>
                  <a:tcPr marT="91425" marB="91425" marR="91425" marL="91425"/>
                </a:tc>
                <a:tc>
                  <a:txBody>
                    <a:bodyPr/>
                    <a:lstStyle/>
                    <a:p>
                      <a:pPr indent="0" lvl="0" marL="0" marR="0" rtl="0" algn="l">
                        <a:lnSpc>
                          <a:spcPct val="115000"/>
                        </a:lnSpc>
                        <a:spcBef>
                          <a:spcPts val="0"/>
                        </a:spcBef>
                        <a:spcAft>
                          <a:spcPts val="0"/>
                        </a:spcAft>
                        <a:buClr>
                          <a:schemeClr val="dk2"/>
                        </a:buClr>
                        <a:buSzPts val="1100"/>
                        <a:buFont typeface="Arial"/>
                        <a:buNone/>
                      </a:pPr>
                      <a:r>
                        <a:rPr b="0" i="0" lang="en-IN" sz="1100" u="none" cap="none" strike="noStrike">
                          <a:solidFill>
                            <a:srgbClr val="000000"/>
                          </a:solidFill>
                          <a:latin typeface="Arial"/>
                          <a:ea typeface="Arial"/>
                          <a:cs typeface="Arial"/>
                          <a:sym typeface="Arial"/>
                        </a:rPr>
                        <a:t>The study is limited by its reliance on expert judgments in the MCDA framework, which may introduce subjectivity and restrict the generalizability of findings beyond Sikkim</a:t>
                      </a:r>
                      <a:r>
                        <a:rPr b="0" i="0" lang="en-IN" sz="1400" u="none" cap="none" strike="noStrike">
                          <a:solidFill>
                            <a:srgbClr val="000000"/>
                          </a:solidFill>
                          <a:latin typeface="Arial"/>
                          <a:ea typeface="Arial"/>
                          <a:cs typeface="Arial"/>
                          <a:sym typeface="Arial"/>
                        </a:rPr>
                        <a:t>.</a:t>
                      </a:r>
                      <a:endParaRPr b="1" sz="1100" u="none" cap="none" strike="noStrike">
                        <a:solidFill>
                          <a:schemeClr val="dk2"/>
                        </a:solidFill>
                      </a:endParaRPr>
                    </a:p>
                  </a:txBody>
                  <a:tcPr marT="91425" marB="91425" marR="91425" marL="91425"/>
                </a:tc>
              </a:tr>
            </a:tbl>
          </a:graphicData>
        </a:graphic>
      </p:graphicFrame>
      <p:sp>
        <p:nvSpPr>
          <p:cNvPr id="198" name="Google Shape;198;g3cf1a03d9ff_0_92"/>
          <p:cNvSpPr txBox="1"/>
          <p:nvPr/>
        </p:nvSpPr>
        <p:spPr>
          <a:xfrm>
            <a:off x="1104900" y="743475"/>
            <a:ext cx="3363000" cy="960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800"/>
              <a:buFont typeface="Arial"/>
              <a:buNone/>
            </a:pPr>
            <a:r>
              <a:rPr b="0" i="0" lang="en-IN" sz="2800" u="none" cap="none" strike="noStrike">
                <a:solidFill>
                  <a:schemeClr val="dk2"/>
                </a:solidFill>
                <a:latin typeface="Arial"/>
                <a:ea typeface="Arial"/>
                <a:cs typeface="Arial"/>
                <a:sym typeface="Arial"/>
              </a:rPr>
              <a:t>Literature Review</a:t>
            </a:r>
            <a:endParaRPr b="0" i="0" sz="2800" u="none" cap="none" strike="noStrike">
              <a:solidFill>
                <a:schemeClr val="dk2"/>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800"/>
              <a:buFont typeface="Arial"/>
              <a:buNone/>
            </a:pPr>
            <a:r>
              <a:t/>
            </a:r>
            <a:endParaRPr b="0" i="0" sz="28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t>System Architechture</a:t>
            </a:r>
            <a:endParaRPr/>
          </a:p>
        </p:txBody>
      </p:sp>
      <p:sp>
        <p:nvSpPr>
          <p:cNvPr id="204" name="Google Shape;204;p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457200" rtl="0" algn="l">
              <a:lnSpc>
                <a:spcPct val="90000"/>
              </a:lnSpc>
              <a:spcBef>
                <a:spcPts val="1800"/>
              </a:spcBef>
              <a:spcAft>
                <a:spcPts val="0"/>
              </a:spcAft>
              <a:buClr>
                <a:schemeClr val="dk1"/>
              </a:buClr>
              <a:buSzPts val="1800"/>
              <a:buNone/>
            </a:pPr>
            <a:r>
              <a:t/>
            </a:r>
            <a:endParaRPr/>
          </a:p>
        </p:txBody>
      </p:sp>
      <p:sp>
        <p:nvSpPr>
          <p:cNvPr id="205" name="Google Shape;205;p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06" name="Google Shape;206;p3"/>
          <p:cNvPicPr preferRelativeResize="0"/>
          <p:nvPr/>
        </p:nvPicPr>
        <p:blipFill rotWithShape="1">
          <a:blip r:embed="rId3">
            <a:alphaModFix/>
          </a:blip>
          <a:srcRect b="0" l="0" r="0" t="0"/>
          <a:stretch/>
        </p:blipFill>
        <p:spPr>
          <a:xfrm>
            <a:off x="1104900" y="1688122"/>
            <a:ext cx="9198877" cy="3846286"/>
          </a:xfrm>
          <a:prstGeom prst="rect">
            <a:avLst/>
          </a:prstGeom>
          <a:noFill/>
          <a:ln>
            <a:noFill/>
          </a:ln>
        </p:spPr>
      </p:pic>
      <p:sp>
        <p:nvSpPr>
          <p:cNvPr id="207" name="Google Shape;207;p3"/>
          <p:cNvSpPr txBox="1"/>
          <p:nvPr/>
        </p:nvSpPr>
        <p:spPr>
          <a:xfrm>
            <a:off x="4029389" y="5479446"/>
            <a:ext cx="35381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2"/>
                </a:solidFill>
                <a:latin typeface="Arial"/>
                <a:ea typeface="Arial"/>
                <a:cs typeface="Arial"/>
                <a:sym typeface="Arial"/>
              </a:rPr>
              <a:t>Fig 1.Terrain Suitability Mapping Workflow</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t>Methodology(Detailed Design)</a:t>
            </a:r>
            <a:endParaRPr/>
          </a:p>
        </p:txBody>
      </p:sp>
      <p:sp>
        <p:nvSpPr>
          <p:cNvPr id="213" name="Google Shape;213;p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14" name="Google Shape;214;p4"/>
          <p:cNvPicPr preferRelativeResize="0"/>
          <p:nvPr/>
        </p:nvPicPr>
        <p:blipFill rotWithShape="1">
          <a:blip r:embed="rId3">
            <a:alphaModFix/>
          </a:blip>
          <a:srcRect b="0" l="0" r="0" t="0"/>
          <a:stretch/>
        </p:blipFill>
        <p:spPr>
          <a:xfrm>
            <a:off x="2110310" y="1407885"/>
            <a:ext cx="8060872" cy="53739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c53bd41426_0_85"/>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Methodology</a:t>
            </a:r>
            <a:endParaRPr>
              <a:solidFill>
                <a:schemeClr val="dk2"/>
              </a:solidFill>
            </a:endParaRPr>
          </a:p>
        </p:txBody>
      </p:sp>
      <p:sp>
        <p:nvSpPr>
          <p:cNvPr id="221" name="Google Shape;221;g3c53bd41426_0_85"/>
          <p:cNvSpPr txBox="1"/>
          <p:nvPr>
            <p:ph idx="1" type="body"/>
          </p:nvPr>
        </p:nvSpPr>
        <p:spPr>
          <a:xfrm>
            <a:off x="1104899" y="1173300"/>
            <a:ext cx="10933025" cy="5548200"/>
          </a:xfrm>
          <a:prstGeom prst="rect">
            <a:avLst/>
          </a:prstGeom>
          <a:noFill/>
          <a:ln>
            <a:noFill/>
          </a:ln>
        </p:spPr>
        <p:txBody>
          <a:bodyPr anchorCtr="0" anchor="t" bIns="45700" lIns="0" spcFirstLastPara="1" rIns="0" wrap="square" tIns="45700">
            <a:noAutofit/>
          </a:bodyPr>
          <a:lstStyle/>
          <a:p>
            <a:pPr indent="0" lvl="0" marL="0" rtl="0" algn="l">
              <a:lnSpc>
                <a:spcPct val="115000"/>
              </a:lnSpc>
              <a:spcBef>
                <a:spcPts val="1200"/>
              </a:spcBef>
              <a:spcAft>
                <a:spcPts val="0"/>
              </a:spcAft>
              <a:buClr>
                <a:schemeClr val="dk2"/>
              </a:buClr>
              <a:buSzPts val="1100"/>
              <a:buNone/>
            </a:pPr>
            <a:r>
              <a:rPr b="1" lang="en-IN" sz="1800">
                <a:solidFill>
                  <a:schemeClr val="dk2"/>
                </a:solidFill>
              </a:rPr>
              <a:t>Step 1 – Data Collection</a:t>
            </a:r>
            <a:br>
              <a:rPr b="1" lang="en-IN" sz="1800">
                <a:solidFill>
                  <a:schemeClr val="dk2"/>
                </a:solidFill>
              </a:rPr>
            </a:br>
            <a:r>
              <a:rPr lang="en-IN" sz="1800">
                <a:solidFill>
                  <a:schemeClr val="dk2"/>
                </a:solidFill>
              </a:rPr>
              <a:t>Collect Sentinel-1/2 satellite imagery, SRTM DEM, JRC Surface Water, and ERA5 weather data using Google Earth Engine.</a:t>
            </a:r>
            <a:endParaRPr/>
          </a:p>
          <a:p>
            <a:pPr indent="0" lvl="0" marL="0" rtl="0" algn="l">
              <a:lnSpc>
                <a:spcPct val="115000"/>
              </a:lnSpc>
              <a:spcBef>
                <a:spcPts val="1200"/>
              </a:spcBef>
              <a:spcAft>
                <a:spcPts val="0"/>
              </a:spcAft>
              <a:buClr>
                <a:schemeClr val="dk2"/>
              </a:buClr>
              <a:buSzPts val="1100"/>
              <a:buNone/>
            </a:pPr>
            <a:r>
              <a:rPr b="1" lang="en-IN" sz="1800">
                <a:solidFill>
                  <a:schemeClr val="dk2"/>
                </a:solidFill>
              </a:rPr>
              <a:t>Step 2 – Data Preprocessing</a:t>
            </a:r>
            <a:br>
              <a:rPr b="1" lang="en-IN" sz="1800">
                <a:solidFill>
                  <a:schemeClr val="dk2"/>
                </a:solidFill>
              </a:rPr>
            </a:br>
            <a:r>
              <a:rPr lang="en-IN" sz="1800">
                <a:solidFill>
                  <a:schemeClr val="dk2"/>
                </a:solidFill>
              </a:rPr>
              <a:t>Perform RGB normalization, calculate NDVI, slope, elevation, water distance, temperature, and rainfall, and prepare a multi-channel dataset.</a:t>
            </a:r>
            <a:endParaRPr/>
          </a:p>
          <a:p>
            <a:pPr indent="0" lvl="0" marL="0" rtl="0" algn="l">
              <a:lnSpc>
                <a:spcPct val="115000"/>
              </a:lnSpc>
              <a:spcBef>
                <a:spcPts val="1200"/>
              </a:spcBef>
              <a:spcAft>
                <a:spcPts val="0"/>
              </a:spcAft>
              <a:buClr>
                <a:schemeClr val="dk2"/>
              </a:buClr>
              <a:buSzPts val="1100"/>
              <a:buNone/>
            </a:pPr>
            <a:r>
              <a:rPr b="1" lang="en-IN" sz="1800">
                <a:solidFill>
                  <a:schemeClr val="dk2"/>
                </a:solidFill>
              </a:rPr>
              <a:t>Step 3 – Model Development</a:t>
            </a:r>
            <a:br>
              <a:rPr b="1" lang="en-IN" sz="1800">
                <a:solidFill>
                  <a:schemeClr val="dk2"/>
                </a:solidFill>
              </a:rPr>
            </a:br>
            <a:r>
              <a:rPr lang="en-IN" sz="1800">
                <a:solidFill>
                  <a:schemeClr val="dk2"/>
                </a:solidFill>
              </a:rPr>
              <a:t>Select a suitable CNN architecture and design convolution, pooling, and fully connected layers.</a:t>
            </a:r>
            <a:endParaRPr/>
          </a:p>
          <a:p>
            <a:pPr indent="0" lvl="0" marL="0" rtl="0" algn="l">
              <a:lnSpc>
                <a:spcPct val="115000"/>
              </a:lnSpc>
              <a:spcBef>
                <a:spcPts val="1200"/>
              </a:spcBef>
              <a:spcAft>
                <a:spcPts val="0"/>
              </a:spcAft>
              <a:buClr>
                <a:schemeClr val="dk2"/>
              </a:buClr>
              <a:buSzPts val="1100"/>
              <a:buNone/>
            </a:pPr>
            <a:r>
              <a:rPr b="1" lang="en-IN" sz="1800">
                <a:solidFill>
                  <a:schemeClr val="dk2"/>
                </a:solidFill>
              </a:rPr>
              <a:t>Step 4 – Model Training</a:t>
            </a:r>
            <a:br>
              <a:rPr b="1" lang="en-IN" sz="1800">
                <a:solidFill>
                  <a:schemeClr val="dk2"/>
                </a:solidFill>
              </a:rPr>
            </a:br>
            <a:r>
              <a:rPr lang="en-IN" sz="1800">
                <a:solidFill>
                  <a:schemeClr val="dk2"/>
                </a:solidFill>
              </a:rPr>
              <a:t>Train the CNN, evaluate accuracy and loss, optimize the model, and save the best-performing model.</a:t>
            </a:r>
            <a:endParaRPr/>
          </a:p>
          <a:p>
            <a:pPr indent="0" lvl="0" marL="0" rtl="0" algn="l">
              <a:lnSpc>
                <a:spcPct val="115000"/>
              </a:lnSpc>
              <a:spcBef>
                <a:spcPts val="1200"/>
              </a:spcBef>
              <a:spcAft>
                <a:spcPts val="0"/>
              </a:spcAft>
              <a:buClr>
                <a:schemeClr val="dk2"/>
              </a:buClr>
              <a:buSzPts val="1100"/>
              <a:buNone/>
            </a:pPr>
            <a:r>
              <a:rPr b="1" lang="en-IN" sz="1800">
                <a:solidFill>
                  <a:schemeClr val="dk2"/>
                </a:solidFill>
              </a:rPr>
              <a:t>Step 5 – User Interaction &amp; Prediction</a:t>
            </a:r>
            <a:br>
              <a:rPr b="1" lang="en-IN" sz="1800">
                <a:solidFill>
                  <a:schemeClr val="dk2"/>
                </a:solidFill>
              </a:rPr>
            </a:br>
            <a:r>
              <a:rPr lang="en-IN" sz="1800">
                <a:solidFill>
                  <a:schemeClr val="dk2"/>
                </a:solidFill>
              </a:rPr>
              <a:t>Allow users to select an Area of Interest (AOI) on the map or enter coordinates, then fetch and preprocess live satellite data.</a:t>
            </a:r>
            <a:endParaRPr/>
          </a:p>
          <a:p>
            <a:pPr indent="0" lvl="0" marL="0" rtl="0" algn="l">
              <a:lnSpc>
                <a:spcPct val="115000"/>
              </a:lnSpc>
              <a:spcBef>
                <a:spcPts val="1200"/>
              </a:spcBef>
              <a:spcAft>
                <a:spcPts val="0"/>
              </a:spcAft>
              <a:buClr>
                <a:schemeClr val="dk2"/>
              </a:buClr>
              <a:buSzPts val="1100"/>
              <a:buNone/>
            </a:pPr>
            <a:r>
              <a:rPr lang="en-IN" sz="1800">
                <a:solidFill>
                  <a:schemeClr val="dk2"/>
                </a:solidFill>
              </a:rPr>
              <a:t>.</a:t>
            </a:r>
            <a:endParaRPr sz="1800">
              <a:solidFill>
                <a:schemeClr val="dk2"/>
              </a:solidFill>
            </a:endParaRPr>
          </a:p>
          <a:p>
            <a:pPr indent="0" lvl="0" marL="0" rtl="0" algn="l">
              <a:lnSpc>
                <a:spcPct val="90000"/>
              </a:lnSpc>
              <a:spcBef>
                <a:spcPts val="1800"/>
              </a:spcBef>
              <a:spcAft>
                <a:spcPts val="0"/>
              </a:spcAft>
              <a:buSzPts val="1800"/>
              <a:buNone/>
            </a:pPr>
            <a:r>
              <a:t/>
            </a:r>
            <a:endParaRPr b="1" sz="1800">
              <a:solidFill>
                <a:schemeClr val="dk2"/>
              </a:solidFill>
            </a:endParaRPr>
          </a:p>
        </p:txBody>
      </p:sp>
      <p:sp>
        <p:nvSpPr>
          <p:cNvPr id="222" name="Google Shape;222;g3c53bd41426_0_85"/>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Methodology</a:t>
            </a:r>
            <a:endParaRPr/>
          </a:p>
        </p:txBody>
      </p:sp>
      <p:sp>
        <p:nvSpPr>
          <p:cNvPr id="228" name="Google Shape;228;p5"/>
          <p:cNvSpPr txBox="1"/>
          <p:nvPr>
            <p:ph idx="1" type="body"/>
          </p:nvPr>
        </p:nvSpPr>
        <p:spPr>
          <a:xfrm>
            <a:off x="1104900" y="1436913"/>
            <a:ext cx="9982200" cy="4919437"/>
          </a:xfrm>
          <a:prstGeom prst="rect">
            <a:avLst/>
          </a:prstGeom>
          <a:noFill/>
          <a:ln>
            <a:noFill/>
          </a:ln>
        </p:spPr>
        <p:txBody>
          <a:bodyPr anchorCtr="0" anchor="t" bIns="45700" lIns="0" spcFirstLastPara="1" rIns="0" wrap="square" tIns="45700">
            <a:normAutofit/>
          </a:bodyPr>
          <a:lstStyle/>
          <a:p>
            <a:pPr indent="0" lvl="0" marL="114300" rtl="0" algn="l">
              <a:lnSpc>
                <a:spcPct val="90000"/>
              </a:lnSpc>
              <a:spcBef>
                <a:spcPts val="1800"/>
              </a:spcBef>
              <a:spcAft>
                <a:spcPts val="0"/>
              </a:spcAft>
              <a:buSzPts val="1800"/>
              <a:buNone/>
            </a:pPr>
            <a:r>
              <a:rPr b="1" lang="en-IN">
                <a:solidFill>
                  <a:schemeClr val="dk2"/>
                </a:solidFill>
              </a:rPr>
              <a:t>Step 6 – Map Generation</a:t>
            </a:r>
            <a:br>
              <a:rPr b="1" lang="en-IN">
                <a:solidFill>
                  <a:schemeClr val="dk2"/>
                </a:solidFill>
              </a:rPr>
            </a:br>
            <a:r>
              <a:rPr lang="en-IN">
                <a:solidFill>
                  <a:schemeClr val="dk2"/>
                </a:solidFill>
              </a:rPr>
              <a:t>Generate an eco-tourism suitability map and classify the terrain into </a:t>
            </a:r>
            <a:r>
              <a:rPr b="1" lang="en-IN">
                <a:solidFill>
                  <a:schemeClr val="dk2"/>
                </a:solidFill>
              </a:rPr>
              <a:t>Suitable and Not Suitable</a:t>
            </a:r>
            <a:r>
              <a:rPr lang="en-IN">
                <a:solidFill>
                  <a:schemeClr val="dk2"/>
                </a:solidFill>
              </a:rPr>
              <a:t>.</a:t>
            </a:r>
            <a:endParaRPr/>
          </a:p>
        </p:txBody>
      </p:sp>
      <p:sp>
        <p:nvSpPr>
          <p:cNvPr id="229" name="Google Shape;229;p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c53bd41426_0_95"/>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 Expected Outcomes</a:t>
            </a:r>
            <a:endParaRPr>
              <a:solidFill>
                <a:schemeClr val="dk2"/>
              </a:solidFill>
            </a:endParaRPr>
          </a:p>
        </p:txBody>
      </p:sp>
      <p:sp>
        <p:nvSpPr>
          <p:cNvPr id="236" name="Google Shape;236;g3c53bd41426_0_95"/>
          <p:cNvSpPr txBox="1"/>
          <p:nvPr>
            <p:ph idx="1" type="body"/>
          </p:nvPr>
        </p:nvSpPr>
        <p:spPr>
          <a:xfrm>
            <a:off x="1104900" y="1526850"/>
            <a:ext cx="10299600" cy="5530200"/>
          </a:xfrm>
          <a:prstGeom prst="rect">
            <a:avLst/>
          </a:prstGeom>
          <a:noFill/>
          <a:ln>
            <a:noFill/>
          </a:ln>
        </p:spPr>
        <p:txBody>
          <a:bodyPr anchorCtr="0" anchor="t" bIns="45700" lIns="0" spcFirstLastPara="1" rIns="0" wrap="square" tIns="45700">
            <a:noAutofit/>
          </a:bodyPr>
          <a:lstStyle/>
          <a:p>
            <a:pPr indent="0" lvl="0" marL="0" rtl="0" algn="just">
              <a:lnSpc>
                <a:spcPct val="115000"/>
              </a:lnSpc>
              <a:spcBef>
                <a:spcPts val="1200"/>
              </a:spcBef>
              <a:spcAft>
                <a:spcPts val="0"/>
              </a:spcAft>
              <a:buClr>
                <a:schemeClr val="dk2"/>
              </a:buClr>
              <a:buSzPts val="1100"/>
              <a:buFont typeface="Arial"/>
              <a:buNone/>
            </a:pPr>
            <a:r>
              <a:rPr b="1" lang="en-IN" sz="1800">
                <a:solidFill>
                  <a:schemeClr val="dk2"/>
                </a:solidFill>
              </a:rPr>
              <a:t> Input:</a:t>
            </a:r>
            <a:endParaRPr b="1" sz="1800">
              <a:solidFill>
                <a:schemeClr val="dk2"/>
              </a:solidFill>
            </a:endParaRPr>
          </a:p>
          <a:p>
            <a:pPr indent="-342900" lvl="0" marL="457200" rtl="0" algn="just">
              <a:lnSpc>
                <a:spcPct val="115000"/>
              </a:lnSpc>
              <a:spcBef>
                <a:spcPts val="0"/>
              </a:spcBef>
              <a:spcAft>
                <a:spcPts val="0"/>
              </a:spcAft>
              <a:buClr>
                <a:schemeClr val="dk2"/>
              </a:buClr>
              <a:buSzPts val="1800"/>
              <a:buFont typeface="Arial"/>
              <a:buChar char="●"/>
            </a:pPr>
            <a:r>
              <a:rPr lang="en-IN" sz="1800">
                <a:solidFill>
                  <a:schemeClr val="dk2"/>
                </a:solidFill>
              </a:rPr>
              <a:t>User-selected Area of Interest (AOI) or Latitude–Longitude Coordinates</a:t>
            </a:r>
            <a:endParaRPr/>
          </a:p>
          <a:p>
            <a:pPr indent="0" lvl="0" marL="114300" rtl="0" algn="just">
              <a:lnSpc>
                <a:spcPct val="115000"/>
              </a:lnSpc>
              <a:spcBef>
                <a:spcPts val="0"/>
              </a:spcBef>
              <a:spcAft>
                <a:spcPts val="0"/>
              </a:spcAft>
              <a:buClr>
                <a:schemeClr val="dk2"/>
              </a:buClr>
              <a:buSzPts val="1800"/>
              <a:buNone/>
            </a:pPr>
            <a:r>
              <a:t/>
            </a:r>
            <a:endParaRPr b="1" sz="1800">
              <a:solidFill>
                <a:schemeClr val="dk2"/>
              </a:solidFill>
            </a:endParaRPr>
          </a:p>
          <a:p>
            <a:pPr indent="0" lvl="0" marL="114300" rtl="0" algn="just">
              <a:lnSpc>
                <a:spcPct val="115000"/>
              </a:lnSpc>
              <a:spcBef>
                <a:spcPts val="0"/>
              </a:spcBef>
              <a:spcAft>
                <a:spcPts val="0"/>
              </a:spcAft>
              <a:buClr>
                <a:schemeClr val="dk2"/>
              </a:buClr>
              <a:buSzPts val="1800"/>
              <a:buNone/>
            </a:pPr>
            <a:r>
              <a:rPr b="1" lang="en-IN" sz="1800">
                <a:solidFill>
                  <a:schemeClr val="dk2"/>
                </a:solidFill>
              </a:rPr>
              <a:t>Output:</a:t>
            </a:r>
            <a:endParaRPr b="1" sz="1800">
              <a:solidFill>
                <a:schemeClr val="dk2"/>
              </a:solidFill>
            </a:endParaRPr>
          </a:p>
          <a:p>
            <a:pPr indent="-342900" lvl="0" marL="457200" rtl="0" algn="just">
              <a:lnSpc>
                <a:spcPct val="115000"/>
              </a:lnSpc>
              <a:spcBef>
                <a:spcPts val="1200"/>
              </a:spcBef>
              <a:spcAft>
                <a:spcPts val="0"/>
              </a:spcAft>
              <a:buClr>
                <a:schemeClr val="dk2"/>
              </a:buClr>
              <a:buSzPts val="1800"/>
              <a:buFont typeface="Arial"/>
              <a:buChar char="●"/>
            </a:pPr>
            <a:r>
              <a:rPr lang="en-IN" sz="1800">
                <a:solidFill>
                  <a:schemeClr val="dk2"/>
                </a:solidFill>
              </a:rPr>
              <a:t>A terrain suitability map generated by the CNN model for the study area.</a:t>
            </a:r>
            <a:endParaRPr sz="1800">
              <a:solidFill>
                <a:schemeClr val="dk2"/>
              </a:solidFill>
            </a:endParaRPr>
          </a:p>
          <a:p>
            <a:pPr indent="-342900" lvl="0" marL="457200" rtl="0" algn="just">
              <a:lnSpc>
                <a:spcPct val="115000"/>
              </a:lnSpc>
              <a:spcBef>
                <a:spcPts val="0"/>
              </a:spcBef>
              <a:spcAft>
                <a:spcPts val="0"/>
              </a:spcAft>
              <a:buClr>
                <a:schemeClr val="dk2"/>
              </a:buClr>
              <a:buSzPts val="1800"/>
              <a:buFont typeface="Arial"/>
              <a:buChar char="●"/>
            </a:pPr>
            <a:r>
              <a:rPr lang="en-IN" sz="1800">
                <a:solidFill>
                  <a:schemeClr val="dk2"/>
                </a:solidFill>
              </a:rPr>
              <a:t>Classification of each region into Highly Suitable and  Not Suitable for eco-tourism development.</a:t>
            </a:r>
            <a:endParaRPr sz="1800">
              <a:solidFill>
                <a:schemeClr val="dk2"/>
              </a:solidFill>
            </a:endParaRPr>
          </a:p>
          <a:p>
            <a:pPr indent="0" lvl="0" marL="0" rtl="0" algn="just">
              <a:lnSpc>
                <a:spcPct val="90000"/>
              </a:lnSpc>
              <a:spcBef>
                <a:spcPts val="1800"/>
              </a:spcBef>
              <a:spcAft>
                <a:spcPts val="0"/>
              </a:spcAft>
              <a:buSzPts val="1800"/>
              <a:buNone/>
            </a:pPr>
            <a:r>
              <a:t/>
            </a:r>
            <a:endParaRPr b="1" sz="1800">
              <a:solidFill>
                <a:schemeClr val="dk2"/>
              </a:solidFill>
            </a:endParaRPr>
          </a:p>
        </p:txBody>
      </p:sp>
      <p:sp>
        <p:nvSpPr>
          <p:cNvPr id="237" name="Google Shape;237;g3c53bd41426_0_95"/>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a:t>
            </a:r>
            <a:r>
              <a:rPr lang="en-IN"/>
              <a:t>Data Collection</a:t>
            </a:r>
            <a:r>
              <a:rPr lang="en-IN">
                <a:solidFill>
                  <a:schemeClr val="dk2"/>
                </a:solidFill>
              </a:rPr>
              <a:t>)</a:t>
            </a:r>
            <a:endParaRPr>
              <a:solidFill>
                <a:schemeClr val="dk2"/>
              </a:solidFill>
            </a:endParaRPr>
          </a:p>
        </p:txBody>
      </p:sp>
      <p:sp>
        <p:nvSpPr>
          <p:cNvPr id="243" name="Google Shape;243;p6"/>
          <p:cNvSpPr txBox="1"/>
          <p:nvPr>
            <p:ph idx="1" type="body"/>
          </p:nvPr>
        </p:nvSpPr>
        <p:spPr>
          <a:xfrm>
            <a:off x="1104900" y="1301139"/>
            <a:ext cx="9982200" cy="4871061"/>
          </a:xfrm>
          <a:prstGeom prst="rect">
            <a:avLst/>
          </a:prstGeom>
          <a:noFill/>
          <a:ln>
            <a:noFill/>
          </a:ln>
        </p:spPr>
        <p:txBody>
          <a:bodyPr anchorCtr="0" anchor="t" bIns="45700" lIns="0" spcFirstLastPara="1" rIns="0" wrap="square" tIns="45700">
            <a:normAutofit/>
          </a:bodyPr>
          <a:lstStyle/>
          <a:p>
            <a:pPr indent="0" lvl="0" marL="114300" rtl="0" algn="l">
              <a:lnSpc>
                <a:spcPct val="90000"/>
              </a:lnSpc>
              <a:spcBef>
                <a:spcPts val="1800"/>
              </a:spcBef>
              <a:spcAft>
                <a:spcPts val="0"/>
              </a:spcAft>
              <a:buSzPts val="1800"/>
              <a:buNone/>
            </a:pPr>
            <a:r>
              <a:rPr lang="en-IN" sz="1800">
                <a:solidFill>
                  <a:schemeClr val="dk2"/>
                </a:solidFill>
              </a:rPr>
              <a:t>Collected satellite and terrain data from Google Earth Engine using Sentinel-1 &amp; Sentinel-2, SRTM DEM, JRC Surface Water, and ERA5 datasets for vegetation, elevation, slope, water bodies, temperature, and rainfall.</a:t>
            </a:r>
            <a:endParaRPr sz="1800">
              <a:solidFill>
                <a:schemeClr val="dk2"/>
              </a:solidFill>
            </a:endParaRPr>
          </a:p>
        </p:txBody>
      </p:sp>
      <p:sp>
        <p:nvSpPr>
          <p:cNvPr id="244" name="Google Shape;244;p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45" name="Google Shape;245;p6"/>
          <p:cNvPicPr preferRelativeResize="0"/>
          <p:nvPr/>
        </p:nvPicPr>
        <p:blipFill rotWithShape="1">
          <a:blip r:embed="rId3">
            <a:alphaModFix/>
          </a:blip>
          <a:srcRect b="0" l="0" r="0" t="0"/>
          <a:stretch/>
        </p:blipFill>
        <p:spPr>
          <a:xfrm>
            <a:off x="4346772" y="2526211"/>
            <a:ext cx="6443830" cy="3270656"/>
          </a:xfrm>
          <a:prstGeom prst="rect">
            <a:avLst/>
          </a:prstGeom>
          <a:noFill/>
          <a:ln>
            <a:noFill/>
          </a:ln>
        </p:spPr>
      </p:pic>
      <p:pic>
        <p:nvPicPr>
          <p:cNvPr id="246" name="Google Shape;246;p6"/>
          <p:cNvPicPr preferRelativeResize="0"/>
          <p:nvPr/>
        </p:nvPicPr>
        <p:blipFill rotWithShape="1">
          <a:blip r:embed="rId4">
            <a:alphaModFix/>
          </a:blip>
          <a:srcRect b="0" l="0" r="0" t="0"/>
          <a:stretch/>
        </p:blipFill>
        <p:spPr>
          <a:xfrm>
            <a:off x="1116721" y="2442496"/>
            <a:ext cx="2933553" cy="594412"/>
          </a:xfrm>
          <a:prstGeom prst="rect">
            <a:avLst/>
          </a:prstGeom>
          <a:noFill/>
          <a:ln>
            <a:noFill/>
          </a:ln>
        </p:spPr>
      </p:pic>
      <p:pic>
        <p:nvPicPr>
          <p:cNvPr id="247" name="Google Shape;247;p6"/>
          <p:cNvPicPr preferRelativeResize="0"/>
          <p:nvPr/>
        </p:nvPicPr>
        <p:blipFill rotWithShape="1">
          <a:blip r:embed="rId5">
            <a:alphaModFix/>
          </a:blip>
          <a:srcRect b="0" l="0" r="0" t="0"/>
          <a:stretch/>
        </p:blipFill>
        <p:spPr>
          <a:xfrm>
            <a:off x="1104899" y="3098094"/>
            <a:ext cx="2851649" cy="1277149"/>
          </a:xfrm>
          <a:prstGeom prst="rect">
            <a:avLst/>
          </a:prstGeom>
          <a:noFill/>
          <a:ln>
            <a:noFill/>
          </a:ln>
        </p:spPr>
      </p:pic>
      <p:pic>
        <p:nvPicPr>
          <p:cNvPr id="248" name="Google Shape;248;p6"/>
          <p:cNvPicPr preferRelativeResize="0"/>
          <p:nvPr/>
        </p:nvPicPr>
        <p:blipFill rotWithShape="1">
          <a:blip r:embed="rId6">
            <a:alphaModFix/>
          </a:blip>
          <a:srcRect b="0" l="0" r="0" t="0"/>
          <a:stretch/>
        </p:blipFill>
        <p:spPr>
          <a:xfrm>
            <a:off x="1116721" y="4352063"/>
            <a:ext cx="2851649" cy="813522"/>
          </a:xfrm>
          <a:prstGeom prst="rect">
            <a:avLst/>
          </a:prstGeom>
          <a:noFill/>
          <a:ln>
            <a:noFill/>
          </a:ln>
        </p:spPr>
      </p:pic>
      <p:pic>
        <p:nvPicPr>
          <p:cNvPr id="249" name="Google Shape;249;p6"/>
          <p:cNvPicPr preferRelativeResize="0"/>
          <p:nvPr/>
        </p:nvPicPr>
        <p:blipFill rotWithShape="1">
          <a:blip r:embed="rId7">
            <a:alphaModFix/>
          </a:blip>
          <a:srcRect b="0" l="0" r="0" t="0"/>
          <a:stretch/>
        </p:blipFill>
        <p:spPr>
          <a:xfrm>
            <a:off x="1104899" y="5293560"/>
            <a:ext cx="2584929" cy="10066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a:t>
            </a:r>
            <a:r>
              <a:rPr lang="en-IN"/>
              <a:t>Data Collection</a:t>
            </a:r>
            <a:r>
              <a:rPr lang="en-IN">
                <a:solidFill>
                  <a:schemeClr val="dk2"/>
                </a:solidFill>
              </a:rPr>
              <a:t>)</a:t>
            </a:r>
            <a:endParaRPr/>
          </a:p>
        </p:txBody>
      </p:sp>
      <p:sp>
        <p:nvSpPr>
          <p:cNvPr id="255" name="Google Shape;255;p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56" name="Google Shape;256;p7"/>
          <p:cNvPicPr preferRelativeResize="0"/>
          <p:nvPr/>
        </p:nvPicPr>
        <p:blipFill rotWithShape="1">
          <a:blip r:embed="rId3">
            <a:alphaModFix/>
          </a:blip>
          <a:srcRect b="0" l="0" r="0" t="0"/>
          <a:stretch/>
        </p:blipFill>
        <p:spPr>
          <a:xfrm>
            <a:off x="1103383" y="1818903"/>
            <a:ext cx="9982199" cy="45902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a:t>
            </a:r>
            <a:r>
              <a:rPr lang="en-IN"/>
              <a:t>Data Analysis</a:t>
            </a:r>
            <a:r>
              <a:rPr lang="en-IN">
                <a:solidFill>
                  <a:schemeClr val="dk2"/>
                </a:solidFill>
              </a:rPr>
              <a:t>)</a:t>
            </a:r>
            <a:endParaRPr/>
          </a:p>
        </p:txBody>
      </p:sp>
      <p:sp>
        <p:nvSpPr>
          <p:cNvPr id="262" name="Google Shape;262;p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63" name="Google Shape;263;p8"/>
          <p:cNvPicPr preferRelativeResize="0"/>
          <p:nvPr/>
        </p:nvPicPr>
        <p:blipFill rotWithShape="1">
          <a:blip r:embed="rId3">
            <a:alphaModFix/>
          </a:blip>
          <a:srcRect b="0" l="0" r="0" t="0"/>
          <a:stretch/>
        </p:blipFill>
        <p:spPr>
          <a:xfrm>
            <a:off x="1208594" y="1714935"/>
            <a:ext cx="2344223" cy="4463593"/>
          </a:xfrm>
          <a:prstGeom prst="rect">
            <a:avLst/>
          </a:prstGeom>
          <a:noFill/>
          <a:ln>
            <a:noFill/>
          </a:ln>
        </p:spPr>
      </p:pic>
      <p:pic>
        <p:nvPicPr>
          <p:cNvPr id="264" name="Google Shape;264;p8"/>
          <p:cNvPicPr preferRelativeResize="0"/>
          <p:nvPr/>
        </p:nvPicPr>
        <p:blipFill rotWithShape="1">
          <a:blip r:embed="rId4">
            <a:alphaModFix/>
          </a:blip>
          <a:srcRect b="0" l="0" r="0" t="0"/>
          <a:stretch/>
        </p:blipFill>
        <p:spPr>
          <a:xfrm>
            <a:off x="3644570" y="1773881"/>
            <a:ext cx="2340864" cy="4404647"/>
          </a:xfrm>
          <a:prstGeom prst="rect">
            <a:avLst/>
          </a:prstGeom>
          <a:noFill/>
          <a:ln>
            <a:noFill/>
          </a:ln>
        </p:spPr>
      </p:pic>
      <p:pic>
        <p:nvPicPr>
          <p:cNvPr id="265" name="Google Shape;265;p8"/>
          <p:cNvPicPr preferRelativeResize="0"/>
          <p:nvPr/>
        </p:nvPicPr>
        <p:blipFill rotWithShape="1">
          <a:blip r:embed="rId5">
            <a:alphaModFix/>
          </a:blip>
          <a:srcRect b="0" l="0" r="0" t="0"/>
          <a:stretch/>
        </p:blipFill>
        <p:spPr>
          <a:xfrm>
            <a:off x="6206568" y="1773881"/>
            <a:ext cx="2340864" cy="4361650"/>
          </a:xfrm>
          <a:prstGeom prst="rect">
            <a:avLst/>
          </a:prstGeom>
          <a:noFill/>
          <a:ln>
            <a:noFill/>
          </a:ln>
        </p:spPr>
      </p:pic>
      <p:pic>
        <p:nvPicPr>
          <p:cNvPr id="266" name="Google Shape;266;p8"/>
          <p:cNvPicPr preferRelativeResize="0"/>
          <p:nvPr/>
        </p:nvPicPr>
        <p:blipFill rotWithShape="1">
          <a:blip r:embed="rId6">
            <a:alphaModFix/>
          </a:blip>
          <a:srcRect b="0" l="0" r="0" t="0"/>
          <a:stretch/>
        </p:blipFill>
        <p:spPr>
          <a:xfrm>
            <a:off x="8642542" y="1735665"/>
            <a:ext cx="2340864" cy="44428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a:t>
            </a:r>
            <a:r>
              <a:rPr lang="en-IN"/>
              <a:t>Data Preprocessing</a:t>
            </a:r>
            <a:r>
              <a:rPr lang="en-IN">
                <a:solidFill>
                  <a:schemeClr val="dk2"/>
                </a:solidFill>
              </a:rPr>
              <a:t>)</a:t>
            </a:r>
            <a:endParaRPr/>
          </a:p>
        </p:txBody>
      </p:sp>
      <p:sp>
        <p:nvSpPr>
          <p:cNvPr id="272" name="Google Shape;272;p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342900" lvl="0" marL="457200" rtl="0" algn="l">
              <a:lnSpc>
                <a:spcPct val="90000"/>
              </a:lnSpc>
              <a:spcBef>
                <a:spcPts val="1800"/>
              </a:spcBef>
              <a:spcAft>
                <a:spcPts val="0"/>
              </a:spcAft>
              <a:buSzPts val="1800"/>
              <a:buChar char="▪"/>
            </a:pPr>
            <a:r>
              <a:rPr lang="en-IN" sz="1800">
                <a:solidFill>
                  <a:schemeClr val="dk2"/>
                </a:solidFill>
              </a:rPr>
              <a:t>Normalized the RGB bands to bring all values into the same range. </a:t>
            </a:r>
            <a:endParaRPr/>
          </a:p>
          <a:p>
            <a:pPr indent="-342900" lvl="0" marL="457200" rtl="0" algn="l">
              <a:lnSpc>
                <a:spcPct val="90000"/>
              </a:lnSpc>
              <a:spcBef>
                <a:spcPts val="1800"/>
              </a:spcBef>
              <a:spcAft>
                <a:spcPts val="0"/>
              </a:spcAft>
              <a:buSzPts val="1800"/>
              <a:buChar char="▪"/>
            </a:pPr>
            <a:r>
              <a:rPr lang="en-IN" sz="1800">
                <a:solidFill>
                  <a:schemeClr val="dk2"/>
                </a:solidFill>
              </a:rPr>
              <a:t>Calculated NDVI, slope, elevation, water distance, temperature, and rainfall layers. </a:t>
            </a:r>
            <a:endParaRPr/>
          </a:p>
          <a:p>
            <a:pPr indent="-342900" lvl="0" marL="457200" rtl="0" algn="l">
              <a:lnSpc>
                <a:spcPct val="90000"/>
              </a:lnSpc>
              <a:spcBef>
                <a:spcPts val="1800"/>
              </a:spcBef>
              <a:spcAft>
                <a:spcPts val="0"/>
              </a:spcAft>
              <a:buSzPts val="1800"/>
              <a:buChar char="▪"/>
            </a:pPr>
            <a:r>
              <a:rPr lang="en-IN" sz="1800">
                <a:solidFill>
                  <a:schemeClr val="dk2"/>
                </a:solidFill>
              </a:rPr>
              <a:t>Combined all the layers into a 9-channel dataset for CNN training.</a:t>
            </a:r>
            <a:endParaRPr/>
          </a:p>
          <a:p>
            <a:pPr indent="-228600" lvl="0" marL="457200" rtl="0" algn="l">
              <a:lnSpc>
                <a:spcPct val="90000"/>
              </a:lnSpc>
              <a:spcBef>
                <a:spcPts val="1800"/>
              </a:spcBef>
              <a:spcAft>
                <a:spcPts val="0"/>
              </a:spcAft>
              <a:buClr>
                <a:schemeClr val="dk1"/>
              </a:buClr>
              <a:buSzPts val="1800"/>
              <a:buNone/>
            </a:pPr>
            <a:r>
              <a:t/>
            </a:r>
            <a:endParaRPr>
              <a:solidFill>
                <a:schemeClr val="dk2"/>
              </a:solidFill>
            </a:endParaRPr>
          </a:p>
        </p:txBody>
      </p:sp>
      <p:sp>
        <p:nvSpPr>
          <p:cNvPr id="273" name="Google Shape;273;p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74" name="Google Shape;274;p9"/>
          <p:cNvPicPr preferRelativeResize="0"/>
          <p:nvPr/>
        </p:nvPicPr>
        <p:blipFill rotWithShape="1">
          <a:blip r:embed="rId3">
            <a:alphaModFix/>
          </a:blip>
          <a:srcRect b="0" l="0" r="0" t="0"/>
          <a:stretch/>
        </p:blipFill>
        <p:spPr>
          <a:xfrm>
            <a:off x="1104900" y="3429000"/>
            <a:ext cx="6285952" cy="2909554"/>
          </a:xfrm>
          <a:prstGeom prst="rect">
            <a:avLst/>
          </a:prstGeom>
          <a:noFill/>
          <a:ln>
            <a:noFill/>
          </a:ln>
        </p:spPr>
      </p:pic>
      <p:pic>
        <p:nvPicPr>
          <p:cNvPr id="275" name="Google Shape;275;p9"/>
          <p:cNvPicPr preferRelativeResize="0"/>
          <p:nvPr/>
        </p:nvPicPr>
        <p:blipFill rotWithShape="1">
          <a:blip r:embed="rId4">
            <a:alphaModFix/>
          </a:blip>
          <a:srcRect b="0" l="0" r="0" t="0"/>
          <a:stretch/>
        </p:blipFill>
        <p:spPr>
          <a:xfrm>
            <a:off x="7487724" y="3429000"/>
            <a:ext cx="4137016" cy="234413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Implementation(Model Development</a:t>
            </a:r>
            <a:r>
              <a:rPr b="1" lang="en-IN">
                <a:solidFill>
                  <a:schemeClr val="dk2"/>
                </a:solidFill>
              </a:rPr>
              <a:t>)</a:t>
            </a:r>
            <a:endParaRPr/>
          </a:p>
        </p:txBody>
      </p:sp>
      <p:sp>
        <p:nvSpPr>
          <p:cNvPr id="281" name="Google Shape;281;p1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342900" lvl="0" marL="457200" rtl="0" algn="l">
              <a:lnSpc>
                <a:spcPct val="90000"/>
              </a:lnSpc>
              <a:spcBef>
                <a:spcPts val="1800"/>
              </a:spcBef>
              <a:spcAft>
                <a:spcPts val="0"/>
              </a:spcAft>
              <a:buSzPts val="1800"/>
              <a:buChar char="▪"/>
            </a:pPr>
            <a:r>
              <a:rPr lang="en-IN" sz="1800">
                <a:solidFill>
                  <a:schemeClr val="dk2"/>
                </a:solidFill>
              </a:rPr>
              <a:t>Studied different supervised learning models for terrain classification. </a:t>
            </a:r>
            <a:endParaRPr/>
          </a:p>
          <a:p>
            <a:pPr indent="-342900" lvl="0" marL="457200" rtl="0" algn="l">
              <a:lnSpc>
                <a:spcPct val="90000"/>
              </a:lnSpc>
              <a:spcBef>
                <a:spcPts val="1800"/>
              </a:spcBef>
              <a:spcAft>
                <a:spcPts val="0"/>
              </a:spcAft>
              <a:buSzPts val="1800"/>
              <a:buChar char="▪"/>
            </a:pPr>
            <a:r>
              <a:rPr lang="en-IN" sz="1800">
                <a:solidFill>
                  <a:schemeClr val="dk2"/>
                </a:solidFill>
              </a:rPr>
              <a:t>Selected a customized CNN architecture for our project. </a:t>
            </a:r>
            <a:endParaRPr/>
          </a:p>
          <a:p>
            <a:pPr indent="-342900" lvl="0" marL="457200" rtl="0" algn="l">
              <a:lnSpc>
                <a:spcPct val="90000"/>
              </a:lnSpc>
              <a:spcBef>
                <a:spcPts val="1800"/>
              </a:spcBef>
              <a:spcAft>
                <a:spcPts val="0"/>
              </a:spcAft>
              <a:buSzPts val="1800"/>
              <a:buChar char="▪"/>
            </a:pPr>
            <a:r>
              <a:rPr lang="en-IN" sz="1800">
                <a:solidFill>
                  <a:schemeClr val="dk2"/>
                </a:solidFill>
              </a:rPr>
              <a:t>Developed and tested a simple CNN model using 500 image patches.</a:t>
            </a:r>
            <a:endParaRPr/>
          </a:p>
          <a:p>
            <a:pPr indent="-228600" lvl="0" marL="457200" rtl="0" algn="l">
              <a:lnSpc>
                <a:spcPct val="90000"/>
              </a:lnSpc>
              <a:spcBef>
                <a:spcPts val="1800"/>
              </a:spcBef>
              <a:spcAft>
                <a:spcPts val="0"/>
              </a:spcAft>
              <a:buClr>
                <a:schemeClr val="dk1"/>
              </a:buClr>
              <a:buSzPts val="1800"/>
              <a:buNone/>
            </a:pPr>
            <a:r>
              <a:t/>
            </a:r>
            <a:endParaRPr>
              <a:solidFill>
                <a:schemeClr val="dk2"/>
              </a:solidFill>
            </a:endParaRPr>
          </a:p>
        </p:txBody>
      </p:sp>
      <p:sp>
        <p:nvSpPr>
          <p:cNvPr id="282" name="Google Shape;282;p1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graphicFrame>
        <p:nvGraphicFramePr>
          <p:cNvPr id="283" name="Google Shape;283;p10"/>
          <p:cNvGraphicFramePr/>
          <p:nvPr/>
        </p:nvGraphicFramePr>
        <p:xfrm>
          <a:off x="1647929" y="3356150"/>
          <a:ext cx="3000000" cy="3000000"/>
        </p:xfrm>
        <a:graphic>
          <a:graphicData uri="http://schemas.openxmlformats.org/drawingml/2006/table">
            <a:tbl>
              <a:tblPr bandRow="1" firstRow="1">
                <a:noFill/>
                <a:tableStyleId>{E2E1E792-9E54-4FBC-934C-32BBFCF089D9}</a:tableStyleId>
              </a:tblPr>
              <a:tblGrid>
                <a:gridCol w="1856400"/>
                <a:gridCol w="2358900"/>
                <a:gridCol w="2097000"/>
                <a:gridCol w="2118275"/>
              </a:tblGrid>
              <a:tr h="425400">
                <a:tc>
                  <a:txBody>
                    <a:bodyPr/>
                    <a:lstStyle/>
                    <a:p>
                      <a:pPr indent="0" lvl="0" marL="0" marR="0" rtl="0" algn="l">
                        <a:lnSpc>
                          <a:spcPct val="100000"/>
                        </a:lnSpc>
                        <a:spcBef>
                          <a:spcPts val="0"/>
                        </a:spcBef>
                        <a:spcAft>
                          <a:spcPts val="0"/>
                        </a:spcAft>
                        <a:buNone/>
                      </a:pPr>
                      <a:r>
                        <a:rPr b="1" lang="en-IN" sz="1800" u="none" cap="none" strike="noStrike"/>
                        <a:t>Feature</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None/>
                      </a:pPr>
                      <a:r>
                        <a:rPr b="1" lang="en-IN" sz="1800" u="none" cap="none" strike="noStrike"/>
                        <a:t>Customized CNN</a:t>
                      </a:r>
                      <a:endParaRPr/>
                    </a:p>
                  </a:txBody>
                  <a:tcPr marT="45725" marB="45725" marR="91450" marL="91450"/>
                </a:tc>
                <a:tc>
                  <a:txBody>
                    <a:bodyPr/>
                    <a:lstStyle/>
                    <a:p>
                      <a:pPr indent="0" lvl="0" marL="0" marR="0" rtl="0" algn="l">
                        <a:lnSpc>
                          <a:spcPct val="100000"/>
                        </a:lnSpc>
                        <a:spcBef>
                          <a:spcPts val="0"/>
                        </a:spcBef>
                        <a:spcAft>
                          <a:spcPts val="0"/>
                        </a:spcAft>
                        <a:buNone/>
                      </a:pPr>
                      <a:r>
                        <a:rPr b="1" lang="en-IN" sz="1800" u="none" cap="none" strike="noStrike"/>
                        <a:t>ResNet-18</a:t>
                      </a:r>
                      <a:endParaRPr/>
                    </a:p>
                  </a:txBody>
                  <a:tcPr marT="45725" marB="45725" marR="91450" marL="91450"/>
                </a:tc>
                <a:tc>
                  <a:txBody>
                    <a:bodyPr/>
                    <a:lstStyle/>
                    <a:p>
                      <a:pPr indent="0" lvl="0" marL="0" marR="0" rtl="0" algn="l">
                        <a:lnSpc>
                          <a:spcPct val="100000"/>
                        </a:lnSpc>
                        <a:spcBef>
                          <a:spcPts val="0"/>
                        </a:spcBef>
                        <a:spcAft>
                          <a:spcPts val="0"/>
                        </a:spcAft>
                        <a:buNone/>
                      </a:pPr>
                      <a:r>
                        <a:rPr b="1" lang="en-IN" sz="1800" u="none" cap="none" strike="noStrike"/>
                        <a:t>VGG-16</a:t>
                      </a:r>
                      <a:endParaRPr/>
                    </a:p>
                  </a:txBody>
                  <a:tcPr marT="45725" marB="45725" marR="91450" marL="91450"/>
                </a:tc>
              </a:tr>
            </a:tbl>
          </a:graphicData>
        </a:graphic>
      </p:graphicFrame>
      <p:graphicFrame>
        <p:nvGraphicFramePr>
          <p:cNvPr id="284" name="Google Shape;284;p10"/>
          <p:cNvGraphicFramePr/>
          <p:nvPr/>
        </p:nvGraphicFramePr>
        <p:xfrm>
          <a:off x="1647930" y="3781543"/>
          <a:ext cx="3000000" cy="3000000"/>
        </p:xfrm>
        <a:graphic>
          <a:graphicData uri="http://schemas.openxmlformats.org/drawingml/2006/table">
            <a:tbl>
              <a:tblPr bandRow="1" firstRow="1">
                <a:noFill/>
                <a:tableStyleId>{E2E1E792-9E54-4FBC-934C-32BBFCF089D9}</a:tableStyleId>
              </a:tblPr>
              <a:tblGrid>
                <a:gridCol w="1864050"/>
                <a:gridCol w="2361825"/>
                <a:gridCol w="2097050"/>
                <a:gridCol w="2107650"/>
              </a:tblGrid>
              <a:tr h="589400">
                <a:tc>
                  <a:txBody>
                    <a:bodyPr/>
                    <a:lstStyle/>
                    <a:p>
                      <a:pPr indent="0" lvl="0" marL="0" marR="0" rtl="0" algn="l">
                        <a:lnSpc>
                          <a:spcPct val="100000"/>
                        </a:lnSpc>
                        <a:spcBef>
                          <a:spcPts val="0"/>
                        </a:spcBef>
                        <a:spcAft>
                          <a:spcPts val="0"/>
                        </a:spcAft>
                        <a:buNone/>
                      </a:pPr>
                      <a:r>
                        <a:rPr lang="en-IN" sz="1600" u="none" cap="none" strike="noStrike"/>
                        <a:t>Architecture Complexity</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Simple</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Moderate</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Very Deep</a:t>
                      </a:r>
                      <a:endParaRPr/>
                    </a:p>
                  </a:txBody>
                  <a:tcPr marT="45725" marB="45725" marR="91450" marL="91450"/>
                </a:tc>
              </a:tr>
              <a:tr h="421825">
                <a:tc>
                  <a:txBody>
                    <a:bodyPr/>
                    <a:lstStyle/>
                    <a:p>
                      <a:pPr indent="0" lvl="0" marL="0" marR="0" rtl="0" algn="l">
                        <a:lnSpc>
                          <a:spcPct val="100000"/>
                        </a:lnSpc>
                        <a:spcBef>
                          <a:spcPts val="0"/>
                        </a:spcBef>
                        <a:spcAft>
                          <a:spcPts val="0"/>
                        </a:spcAft>
                        <a:buNone/>
                      </a:pPr>
                      <a:r>
                        <a:rPr lang="en-IN" sz="1600" u="none" cap="none" strike="noStrike"/>
                        <a:t>Number of Layers</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3–5 Convolution Layers</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18 Layers</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16 Layers</a:t>
                      </a:r>
                      <a:endParaRPr/>
                    </a:p>
                  </a:txBody>
                  <a:tcPr marT="45725" marB="45725" marR="91450" marL="91450"/>
                </a:tc>
              </a:tr>
              <a:tr h="421825">
                <a:tc>
                  <a:txBody>
                    <a:bodyPr/>
                    <a:lstStyle/>
                    <a:p>
                      <a:pPr indent="0" lvl="0" marL="0" marR="0" rtl="0" algn="l">
                        <a:lnSpc>
                          <a:spcPct val="100000"/>
                        </a:lnSpc>
                        <a:spcBef>
                          <a:spcPts val="0"/>
                        </a:spcBef>
                        <a:spcAft>
                          <a:spcPts val="0"/>
                        </a:spcAft>
                        <a:buNone/>
                      </a:pPr>
                      <a:r>
                        <a:rPr lang="en-IN" sz="1600" u="none" cap="none" strike="noStrike"/>
                        <a:t>Training Time</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Fast</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Moderate</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Slow</a:t>
                      </a:r>
                      <a:endParaRPr/>
                    </a:p>
                  </a:txBody>
                  <a:tcPr marT="45725" marB="45725" marR="91450" marL="91450"/>
                </a:tc>
              </a:tr>
              <a:tr h="589400">
                <a:tc>
                  <a:txBody>
                    <a:bodyPr/>
                    <a:lstStyle/>
                    <a:p>
                      <a:pPr indent="0" lvl="0" marL="0" marR="0" rtl="0" algn="l">
                        <a:lnSpc>
                          <a:spcPct val="100000"/>
                        </a:lnSpc>
                        <a:spcBef>
                          <a:spcPts val="0"/>
                        </a:spcBef>
                        <a:spcAft>
                          <a:spcPts val="0"/>
                        </a:spcAft>
                        <a:buNone/>
                      </a:pPr>
                      <a:r>
                        <a:rPr lang="en-IN" sz="1600" u="none" cap="none" strike="noStrike"/>
                        <a:t>Memory Requirement</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Low</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Moderate</a:t>
                      </a:r>
                      <a:endParaRPr/>
                    </a:p>
                  </a:txBody>
                  <a:tcPr marT="45725" marB="45725" marR="91450" marL="91450"/>
                </a:tc>
                <a:tc>
                  <a:txBody>
                    <a:bodyPr/>
                    <a:lstStyle/>
                    <a:p>
                      <a:pPr indent="0" lvl="0" marL="0" marR="0" rtl="0" algn="l">
                        <a:lnSpc>
                          <a:spcPct val="100000"/>
                        </a:lnSpc>
                        <a:spcBef>
                          <a:spcPts val="0"/>
                        </a:spcBef>
                        <a:spcAft>
                          <a:spcPts val="0"/>
                        </a:spcAft>
                        <a:buNone/>
                      </a:pPr>
                      <a:r>
                        <a:rPr lang="en-IN" sz="1600" u="none" cap="none" strike="noStrike"/>
                        <a:t>High</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rPr lang="en-IN">
                <a:solidFill>
                  <a:schemeClr val="dk2"/>
                </a:solidFill>
              </a:rPr>
              <a:t>Implementation(Model Development</a:t>
            </a:r>
            <a:r>
              <a:rPr b="1" lang="en-IN">
                <a:solidFill>
                  <a:schemeClr val="dk2"/>
                </a:solidFill>
              </a:rPr>
              <a:t>)</a:t>
            </a:r>
            <a:endParaRPr/>
          </a:p>
        </p:txBody>
      </p:sp>
      <p:sp>
        <p:nvSpPr>
          <p:cNvPr id="290" name="Google Shape;290;p1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91" name="Google Shape;291;p11"/>
          <p:cNvPicPr preferRelativeResize="0"/>
          <p:nvPr/>
        </p:nvPicPr>
        <p:blipFill rotWithShape="1">
          <a:blip r:embed="rId3">
            <a:alphaModFix/>
          </a:blip>
          <a:srcRect b="0" l="0" r="0" t="0"/>
          <a:stretch/>
        </p:blipFill>
        <p:spPr>
          <a:xfrm>
            <a:off x="5390167" y="1354011"/>
            <a:ext cx="5695415" cy="3559634"/>
          </a:xfrm>
          <a:prstGeom prst="rect">
            <a:avLst/>
          </a:prstGeom>
          <a:noFill/>
          <a:ln>
            <a:noFill/>
          </a:ln>
        </p:spPr>
      </p:pic>
      <p:pic>
        <p:nvPicPr>
          <p:cNvPr id="292" name="Google Shape;292;p11"/>
          <p:cNvPicPr preferRelativeResize="0"/>
          <p:nvPr/>
        </p:nvPicPr>
        <p:blipFill rotWithShape="1">
          <a:blip r:embed="rId4">
            <a:alphaModFix/>
          </a:blip>
          <a:srcRect b="0" l="0" r="0" t="0"/>
          <a:stretch/>
        </p:blipFill>
        <p:spPr>
          <a:xfrm>
            <a:off x="1331621" y="1354011"/>
            <a:ext cx="3886206" cy="3886206"/>
          </a:xfrm>
          <a:prstGeom prst="rect">
            <a:avLst/>
          </a:prstGeom>
          <a:noFill/>
          <a:ln>
            <a:noFill/>
          </a:ln>
        </p:spPr>
      </p:pic>
      <p:sp>
        <p:nvSpPr>
          <p:cNvPr id="293" name="Google Shape;293;p11"/>
          <p:cNvSpPr txBox="1"/>
          <p:nvPr/>
        </p:nvSpPr>
        <p:spPr>
          <a:xfrm>
            <a:off x="1331621" y="5134657"/>
            <a:ext cx="931482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600" u="none" cap="none" strike="noStrike">
                <a:solidFill>
                  <a:srgbClr val="000000"/>
                </a:solidFill>
                <a:latin typeface="Arial"/>
                <a:ea typeface="Arial"/>
                <a:cs typeface="Arial"/>
                <a:sym typeface="Arial"/>
              </a:rPr>
              <a:t>Conclusion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Arial"/>
                <a:ea typeface="Arial"/>
                <a:cs typeface="Arial"/>
                <a:sym typeface="Arial"/>
              </a:rPr>
              <a:t>The current model serves as a baseline, and further training, parameter tuning, and evaluation on the full dataset are necessary to enhance its performance and reliability.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fb352be4e5_0_0"/>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Experimental Setup and Simulation</a:t>
            </a:r>
            <a:endParaRPr>
              <a:solidFill>
                <a:schemeClr val="dk2"/>
              </a:solidFill>
            </a:endParaRPr>
          </a:p>
        </p:txBody>
      </p:sp>
      <p:sp>
        <p:nvSpPr>
          <p:cNvPr id="300" name="Google Shape;300;g3fb352be4e5_0_0"/>
          <p:cNvSpPr txBox="1"/>
          <p:nvPr>
            <p:ph idx="1" type="body"/>
          </p:nvPr>
        </p:nvSpPr>
        <p:spPr>
          <a:xfrm>
            <a:off x="1104900" y="1877400"/>
            <a:ext cx="9982200" cy="4294800"/>
          </a:xfrm>
          <a:prstGeom prst="rect">
            <a:avLst/>
          </a:prstGeom>
          <a:noFill/>
          <a:ln>
            <a:noFill/>
          </a:ln>
        </p:spPr>
        <p:txBody>
          <a:bodyPr anchorCtr="0" anchor="t" bIns="45700" lIns="0" spcFirstLastPara="1" rIns="0" wrap="square" tIns="45700">
            <a:noAutofit/>
          </a:bodyPr>
          <a:lstStyle/>
          <a:p>
            <a:pPr indent="0" lvl="0" marL="0" rtl="0" algn="just">
              <a:spcBef>
                <a:spcPts val="1800"/>
              </a:spcBef>
              <a:spcAft>
                <a:spcPts val="0"/>
              </a:spcAft>
              <a:buClr>
                <a:schemeClr val="dk2"/>
              </a:buClr>
              <a:buSzPts val="1100"/>
              <a:buFont typeface="Arial"/>
              <a:buNone/>
            </a:pPr>
            <a:r>
              <a:rPr lang="en-IN" sz="1800">
                <a:solidFill>
                  <a:schemeClr val="dk2"/>
                </a:solidFill>
              </a:rPr>
              <a:t>Dataset: </a:t>
            </a:r>
            <a:r>
              <a:rPr b="1" lang="en-IN" sz="1800">
                <a:solidFill>
                  <a:schemeClr val="dk2"/>
                </a:solidFill>
              </a:rPr>
              <a:t>118 geographical regions, 980 image-mask patches</a:t>
            </a:r>
            <a:endParaRPr b="1" sz="1800">
              <a:solidFill>
                <a:schemeClr val="dk2"/>
              </a:solidFill>
            </a:endParaRPr>
          </a:p>
          <a:p>
            <a:pPr indent="0" lvl="0" marL="0" rtl="0" algn="just">
              <a:spcBef>
                <a:spcPts val="1800"/>
              </a:spcBef>
              <a:spcAft>
                <a:spcPts val="0"/>
              </a:spcAft>
              <a:buClr>
                <a:schemeClr val="dk2"/>
              </a:buClr>
              <a:buSzPts val="1100"/>
              <a:buFont typeface="Arial"/>
              <a:buNone/>
            </a:pPr>
            <a:r>
              <a:rPr lang="en-IN" sz="1800">
                <a:solidFill>
                  <a:schemeClr val="dk2"/>
                </a:solidFill>
              </a:rPr>
              <a:t>Patch size: </a:t>
            </a:r>
            <a:r>
              <a:rPr b="1" lang="en-IN" sz="1800">
                <a:solidFill>
                  <a:schemeClr val="dk2"/>
                </a:solidFill>
              </a:rPr>
              <a:t>256 × 256 pixels</a:t>
            </a:r>
            <a:endParaRPr b="1" sz="1800">
              <a:solidFill>
                <a:schemeClr val="dk2"/>
              </a:solidFill>
            </a:endParaRPr>
          </a:p>
          <a:p>
            <a:pPr indent="0" lvl="0" marL="0" rtl="0" algn="just">
              <a:spcBef>
                <a:spcPts val="1800"/>
              </a:spcBef>
              <a:spcAft>
                <a:spcPts val="0"/>
              </a:spcAft>
              <a:buClr>
                <a:schemeClr val="dk2"/>
              </a:buClr>
              <a:buSzPts val="1100"/>
              <a:buFont typeface="Arial"/>
              <a:buNone/>
            </a:pPr>
            <a:r>
              <a:rPr lang="en-IN" sz="1800">
                <a:solidFill>
                  <a:schemeClr val="dk2"/>
                </a:solidFill>
              </a:rPr>
              <a:t>Input: </a:t>
            </a:r>
            <a:r>
              <a:rPr b="1" lang="en-IN" sz="1800">
                <a:solidFill>
                  <a:schemeClr val="dk2"/>
                </a:solidFill>
              </a:rPr>
              <a:t>11-channel geospatial data</a:t>
            </a:r>
            <a:endParaRPr b="1" sz="1800">
              <a:solidFill>
                <a:schemeClr val="dk2"/>
              </a:solidFill>
            </a:endParaRPr>
          </a:p>
          <a:p>
            <a:pPr indent="-342900" lvl="0" marL="457200" rtl="0" algn="l">
              <a:lnSpc>
                <a:spcPct val="115000"/>
              </a:lnSpc>
              <a:spcBef>
                <a:spcPts val="1200"/>
              </a:spcBef>
              <a:spcAft>
                <a:spcPts val="0"/>
              </a:spcAft>
              <a:buClr>
                <a:schemeClr val="dk2"/>
              </a:buClr>
              <a:buSzPts val="1800"/>
              <a:buFont typeface="Arial"/>
              <a:buChar char="●"/>
            </a:pPr>
            <a:r>
              <a:rPr lang="en-IN" sz="1800">
                <a:solidFill>
                  <a:schemeClr val="dk2"/>
                </a:solidFill>
              </a:rPr>
              <a:t>RGB, NDVI, Elevation, Slope, Water Distance, Temperature, Rainfall, SAR VV, SAR VH</a:t>
            </a:r>
            <a:endParaRPr sz="1800">
              <a:solidFill>
                <a:schemeClr val="dk2"/>
              </a:solidFill>
            </a:endParaRPr>
          </a:p>
          <a:p>
            <a:pPr indent="0" lvl="0" marL="0" rtl="0" algn="l">
              <a:lnSpc>
                <a:spcPct val="115000"/>
              </a:lnSpc>
              <a:spcBef>
                <a:spcPts val="1200"/>
              </a:spcBef>
              <a:spcAft>
                <a:spcPts val="0"/>
              </a:spcAft>
              <a:buClr>
                <a:schemeClr val="dk2"/>
              </a:buClr>
              <a:buSzPts val="1100"/>
              <a:buFont typeface="Arial"/>
              <a:buNone/>
            </a:pPr>
            <a:r>
              <a:rPr lang="en-IN" sz="1800">
                <a:solidFill>
                  <a:schemeClr val="dk2"/>
                </a:solidFill>
              </a:rPr>
              <a:t>Output: </a:t>
            </a:r>
            <a:r>
              <a:rPr b="1" lang="en-IN" sz="1800">
                <a:solidFill>
                  <a:schemeClr val="dk2"/>
                </a:solidFill>
              </a:rPr>
              <a:t>3-class pixel-wise suitability segmentation</a:t>
            </a:r>
            <a:endParaRPr b="1" sz="1800">
              <a:solidFill>
                <a:schemeClr val="dk2"/>
              </a:solidFill>
            </a:endParaRPr>
          </a:p>
          <a:p>
            <a:pPr indent="0" lvl="0" marL="0" rtl="0" algn="just">
              <a:spcBef>
                <a:spcPts val="1800"/>
              </a:spcBef>
              <a:spcAft>
                <a:spcPts val="0"/>
              </a:spcAft>
              <a:buClr>
                <a:schemeClr val="dk2"/>
              </a:buClr>
              <a:buSzPts val="1100"/>
              <a:buFont typeface="Arial"/>
              <a:buNone/>
            </a:pPr>
            <a:r>
              <a:rPr lang="en-IN" sz="1800">
                <a:solidFill>
                  <a:schemeClr val="dk2"/>
                </a:solidFill>
              </a:rPr>
              <a:t>Dataset split:</a:t>
            </a:r>
            <a:endParaRPr sz="1800">
              <a:solidFill>
                <a:schemeClr val="dk2"/>
              </a:solidFill>
            </a:endParaRPr>
          </a:p>
          <a:p>
            <a:pPr indent="-342900" lvl="0" marL="457200" rtl="0" algn="l">
              <a:lnSpc>
                <a:spcPct val="115000"/>
              </a:lnSpc>
              <a:spcBef>
                <a:spcPts val="1200"/>
              </a:spcBef>
              <a:spcAft>
                <a:spcPts val="0"/>
              </a:spcAft>
              <a:buClr>
                <a:schemeClr val="dk2"/>
              </a:buClr>
              <a:buSzPts val="1800"/>
              <a:buFont typeface="Arial"/>
              <a:buChar char="●"/>
            </a:pPr>
            <a:r>
              <a:rPr b="1" lang="en-IN" sz="1800">
                <a:solidFill>
                  <a:schemeClr val="dk2"/>
                </a:solidFill>
              </a:rPr>
              <a:t>Training:</a:t>
            </a:r>
            <a:r>
              <a:rPr lang="en-IN" sz="1800">
                <a:solidFill>
                  <a:schemeClr val="dk2"/>
                </a:solidFill>
              </a:rPr>
              <a:t> 82 regions / 682 patches</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b="1" lang="en-IN" sz="1800">
                <a:solidFill>
                  <a:schemeClr val="dk2"/>
                </a:solidFill>
              </a:rPr>
              <a:t>Validation:</a:t>
            </a:r>
            <a:r>
              <a:rPr lang="en-IN" sz="1800">
                <a:solidFill>
                  <a:schemeClr val="dk2"/>
                </a:solidFill>
              </a:rPr>
              <a:t> 18 regions / 153 patches</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b="1" lang="en-IN" sz="1800">
                <a:solidFill>
                  <a:schemeClr val="dk2"/>
                </a:solidFill>
              </a:rPr>
              <a:t>Testing:</a:t>
            </a:r>
            <a:r>
              <a:rPr lang="en-IN" sz="1800">
                <a:solidFill>
                  <a:schemeClr val="dk2"/>
                </a:solidFill>
              </a:rPr>
              <a:t> 18 regions / 145 patches</a:t>
            </a:r>
            <a:endParaRPr sz="1800">
              <a:solidFill>
                <a:schemeClr val="dk2"/>
              </a:solidFill>
            </a:endParaRPr>
          </a:p>
          <a:p>
            <a:pPr indent="0" lvl="0" marL="0" rtl="0" algn="l">
              <a:lnSpc>
                <a:spcPct val="115000"/>
              </a:lnSpc>
              <a:spcBef>
                <a:spcPts val="1200"/>
              </a:spcBef>
              <a:spcAft>
                <a:spcPts val="0"/>
              </a:spcAft>
              <a:buClr>
                <a:schemeClr val="dk2"/>
              </a:buClr>
              <a:buSzPts val="1100"/>
              <a:buFont typeface="Arial"/>
              <a:buNone/>
            </a:pPr>
            <a:r>
              <a:rPr lang="en-IN" sz="1800">
                <a:solidFill>
                  <a:schemeClr val="dk2"/>
                </a:solidFill>
              </a:rPr>
              <a:t>Training environment: </a:t>
            </a:r>
            <a:r>
              <a:rPr b="1" lang="en-IN" sz="1800">
                <a:solidFill>
                  <a:schemeClr val="dk2"/>
                </a:solidFill>
              </a:rPr>
              <a:t>Google Colab + NVIDIA Tesla T4 GPU</a:t>
            </a:r>
            <a:endParaRPr b="1" sz="1800">
              <a:solidFill>
                <a:schemeClr val="dk2"/>
              </a:solidFill>
            </a:endParaRPr>
          </a:p>
          <a:p>
            <a:pPr indent="0" lvl="0" marL="0" rtl="0" algn="just">
              <a:spcBef>
                <a:spcPts val="1800"/>
              </a:spcBef>
              <a:spcAft>
                <a:spcPts val="0"/>
              </a:spcAft>
              <a:buClr>
                <a:schemeClr val="dk2"/>
              </a:buClr>
              <a:buSzPts val="1100"/>
              <a:buFont typeface="Arial"/>
              <a:buNone/>
            </a:pPr>
            <a:r>
              <a:rPr lang="en-IN" sz="1800">
                <a:solidFill>
                  <a:schemeClr val="dk2"/>
                </a:solidFill>
              </a:rPr>
              <a:t>Batch size: </a:t>
            </a:r>
            <a:r>
              <a:rPr b="1" lang="en-IN" sz="1800">
                <a:solidFill>
                  <a:schemeClr val="dk2"/>
                </a:solidFill>
              </a:rPr>
              <a:t>4</a:t>
            </a:r>
            <a:r>
              <a:rPr lang="en-IN" sz="1800">
                <a:solidFill>
                  <a:schemeClr val="dk2"/>
                </a:solidFill>
              </a:rPr>
              <a:t>, Optimizer: </a:t>
            </a:r>
            <a:r>
              <a:rPr b="1" lang="en-IN" sz="1800">
                <a:solidFill>
                  <a:schemeClr val="dk2"/>
                </a:solidFill>
              </a:rPr>
              <a:t>Adam</a:t>
            </a:r>
            <a:r>
              <a:rPr lang="en-IN" sz="1800">
                <a:solidFill>
                  <a:schemeClr val="dk2"/>
                </a:solidFill>
              </a:rPr>
              <a:t>, Learning rate: </a:t>
            </a:r>
            <a:r>
              <a:rPr b="1" lang="en-IN" sz="1800">
                <a:solidFill>
                  <a:schemeClr val="dk2"/>
                </a:solidFill>
              </a:rPr>
              <a:t>0.001</a:t>
            </a:r>
            <a:endParaRPr b="1"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p:txBody>
      </p:sp>
      <p:sp>
        <p:nvSpPr>
          <p:cNvPr id="301" name="Google Shape;301;g3fb352be4e5_0_0"/>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fb352be4e5_0_21"/>
          <p:cNvSpPr txBox="1"/>
          <p:nvPr>
            <p:ph type="title"/>
          </p:nvPr>
        </p:nvSpPr>
        <p:spPr>
          <a:xfrm>
            <a:off x="1105650" y="129925"/>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Performance Parameters</a:t>
            </a:r>
            <a:endParaRPr>
              <a:solidFill>
                <a:schemeClr val="dk2"/>
              </a:solidFill>
            </a:endParaRPr>
          </a:p>
        </p:txBody>
      </p:sp>
      <p:sp>
        <p:nvSpPr>
          <p:cNvPr id="308" name="Google Shape;308;g3fb352be4e5_0_21"/>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graphicFrame>
        <p:nvGraphicFramePr>
          <p:cNvPr id="309" name="Google Shape;309;g3fb352be4e5_0_21"/>
          <p:cNvGraphicFramePr/>
          <p:nvPr/>
        </p:nvGraphicFramePr>
        <p:xfrm>
          <a:off x="952500" y="2476500"/>
          <a:ext cx="3000000" cy="3000000"/>
        </p:xfrm>
        <a:graphic>
          <a:graphicData uri="http://schemas.openxmlformats.org/drawingml/2006/table">
            <a:tbl>
              <a:tblPr>
                <a:noFill/>
                <a:tableStyleId>{17E15652-B7AC-42DE-A5C9-21E05EB00EC6}</a:tableStyleId>
              </a:tblPr>
              <a:tblGrid>
                <a:gridCol w="5143500"/>
                <a:gridCol w="5143500"/>
              </a:tblGrid>
              <a:tr h="381000">
                <a:tc>
                  <a:txBody>
                    <a:bodyPr/>
                    <a:lstStyle/>
                    <a:p>
                      <a:pPr indent="0" lvl="0" marL="0" rtl="0" algn="l">
                        <a:spcBef>
                          <a:spcPts val="0"/>
                        </a:spcBef>
                        <a:spcAft>
                          <a:spcPts val="0"/>
                        </a:spcAft>
                        <a:buNone/>
                      </a:pPr>
                      <a:r>
                        <a:rPr b="1" lang="en-IN" sz="1800"/>
                        <a:t>Parameter</a:t>
                      </a:r>
                      <a:endParaRPr b="1" sz="1800"/>
                    </a:p>
                  </a:txBody>
                  <a:tcPr marT="91425" marB="91425" marR="91425" marL="91425"/>
                </a:tc>
                <a:tc>
                  <a:txBody>
                    <a:bodyPr/>
                    <a:lstStyle/>
                    <a:p>
                      <a:pPr indent="0" lvl="0" marL="0" rtl="0" algn="l">
                        <a:spcBef>
                          <a:spcPts val="0"/>
                        </a:spcBef>
                        <a:spcAft>
                          <a:spcPts val="0"/>
                        </a:spcAft>
                        <a:buNone/>
                      </a:pPr>
                      <a:r>
                        <a:rPr b="1" lang="en-IN" sz="1800"/>
                        <a:t>Purpose</a:t>
                      </a:r>
                      <a:endParaRPr b="1" sz="1800"/>
                    </a:p>
                  </a:txBody>
                  <a:tcPr marT="91425" marB="91425" marR="91425" marL="91425"/>
                </a:tc>
              </a:tr>
              <a:tr h="381000">
                <a:tc>
                  <a:txBody>
                    <a:bodyPr/>
                    <a:lstStyle/>
                    <a:p>
                      <a:pPr indent="0" lvl="0" marL="0" rtl="0" algn="l">
                        <a:spcBef>
                          <a:spcPts val="0"/>
                        </a:spcBef>
                        <a:spcAft>
                          <a:spcPts val="0"/>
                        </a:spcAft>
                        <a:buNone/>
                      </a:pPr>
                      <a:r>
                        <a:rPr lang="en-IN" sz="1800"/>
                        <a:t>Accuracy</a:t>
                      </a:r>
                      <a:endParaRPr sz="1800"/>
                    </a:p>
                  </a:txBody>
                  <a:tcPr marT="91425" marB="91425" marR="91425" marL="91425"/>
                </a:tc>
                <a:tc>
                  <a:txBody>
                    <a:bodyPr/>
                    <a:lstStyle/>
                    <a:p>
                      <a:pPr indent="0" lvl="0" marL="0" rtl="0" algn="l">
                        <a:spcBef>
                          <a:spcPts val="0"/>
                        </a:spcBef>
                        <a:spcAft>
                          <a:spcPts val="0"/>
                        </a:spcAft>
                        <a:buNone/>
                      </a:pPr>
                      <a:r>
                        <a:rPr lang="en-IN" sz="1800"/>
                        <a:t>Overall correctly classified pixels</a:t>
                      </a:r>
                      <a:endParaRPr sz="1800"/>
                    </a:p>
                  </a:txBody>
                  <a:tcPr marT="91425" marB="91425" marR="91425" marL="91425"/>
                </a:tc>
              </a:tr>
              <a:tr h="381000">
                <a:tc>
                  <a:txBody>
                    <a:bodyPr/>
                    <a:lstStyle/>
                    <a:p>
                      <a:pPr indent="0" lvl="0" marL="0" rtl="0" algn="l">
                        <a:spcBef>
                          <a:spcPts val="0"/>
                        </a:spcBef>
                        <a:spcAft>
                          <a:spcPts val="0"/>
                        </a:spcAft>
                        <a:buNone/>
                      </a:pPr>
                      <a:r>
                        <a:rPr lang="en-IN" sz="1800"/>
                        <a:t>Mean IoU</a:t>
                      </a:r>
                      <a:endParaRPr sz="1800"/>
                    </a:p>
                  </a:txBody>
                  <a:tcPr marT="91425" marB="91425" marR="91425" marL="91425"/>
                </a:tc>
                <a:tc>
                  <a:txBody>
                    <a:bodyPr/>
                    <a:lstStyle/>
                    <a:p>
                      <a:pPr indent="0" lvl="0" marL="0" rtl="0" algn="l">
                        <a:spcBef>
                          <a:spcPts val="0"/>
                        </a:spcBef>
                        <a:spcAft>
                          <a:spcPts val="0"/>
                        </a:spcAft>
                        <a:buNone/>
                      </a:pPr>
                      <a:r>
                        <a:rPr lang="en-IN" sz="1800"/>
                        <a:t>Overlap between prediction and ground truth</a:t>
                      </a:r>
                      <a:endParaRPr sz="1800"/>
                    </a:p>
                  </a:txBody>
                  <a:tcPr marT="91425" marB="91425" marR="91425" marL="91425"/>
                </a:tc>
              </a:tr>
              <a:tr h="381000">
                <a:tc>
                  <a:txBody>
                    <a:bodyPr/>
                    <a:lstStyle/>
                    <a:p>
                      <a:pPr indent="0" lvl="0" marL="0" rtl="0" algn="l">
                        <a:spcBef>
                          <a:spcPts val="0"/>
                        </a:spcBef>
                        <a:spcAft>
                          <a:spcPts val="0"/>
                        </a:spcAft>
                        <a:buNone/>
                      </a:pPr>
                      <a:r>
                        <a:rPr lang="en-IN" sz="1800"/>
                        <a:t>Mean Dice</a:t>
                      </a:r>
                      <a:endParaRPr sz="1800"/>
                    </a:p>
                  </a:txBody>
                  <a:tcPr marT="91425" marB="91425" marR="91425" marL="91425"/>
                </a:tc>
                <a:tc>
                  <a:txBody>
                    <a:bodyPr/>
                    <a:lstStyle/>
                    <a:p>
                      <a:pPr indent="0" lvl="0" marL="0" rtl="0" algn="l">
                        <a:spcBef>
                          <a:spcPts val="0"/>
                        </a:spcBef>
                        <a:spcAft>
                          <a:spcPts val="0"/>
                        </a:spcAft>
                        <a:buNone/>
                      </a:pPr>
                      <a:r>
                        <a:rPr lang="en-IN" sz="1800"/>
                        <a:t>Segmentation similarity</a:t>
                      </a:r>
                      <a:endParaRPr sz="1800"/>
                    </a:p>
                  </a:txBody>
                  <a:tcPr marT="91425" marB="91425" marR="91425" marL="91425"/>
                </a:tc>
              </a:tr>
              <a:tr h="381000">
                <a:tc>
                  <a:txBody>
                    <a:bodyPr/>
                    <a:lstStyle/>
                    <a:p>
                      <a:pPr indent="0" lvl="0" marL="0" rtl="0" algn="l">
                        <a:spcBef>
                          <a:spcPts val="0"/>
                        </a:spcBef>
                        <a:spcAft>
                          <a:spcPts val="0"/>
                        </a:spcAft>
                        <a:buNone/>
                      </a:pPr>
                      <a:r>
                        <a:rPr lang="en-IN" sz="1800"/>
                        <a:t>Confusion Matrix</a:t>
                      </a:r>
                      <a:endParaRPr sz="1800"/>
                    </a:p>
                  </a:txBody>
                  <a:tcPr marT="91425" marB="91425" marR="91425" marL="91425"/>
                </a:tc>
                <a:tc>
                  <a:txBody>
                    <a:bodyPr/>
                    <a:lstStyle/>
                    <a:p>
                      <a:pPr indent="0" lvl="0" marL="0" rtl="0" algn="l">
                        <a:spcBef>
                          <a:spcPts val="0"/>
                        </a:spcBef>
                        <a:spcAft>
                          <a:spcPts val="0"/>
                        </a:spcAft>
                        <a:buNone/>
                      </a:pPr>
                      <a:r>
                        <a:rPr lang="en-IN" sz="1800"/>
                        <a:t>Class-wise prediction errors</a:t>
                      </a:r>
                      <a:endParaRPr sz="1800"/>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fb352be4e5_0_7"/>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Efficiency Issues</a:t>
            </a:r>
            <a:endParaRPr>
              <a:solidFill>
                <a:schemeClr val="dk2"/>
              </a:solidFill>
            </a:endParaRPr>
          </a:p>
        </p:txBody>
      </p:sp>
      <p:sp>
        <p:nvSpPr>
          <p:cNvPr id="316" name="Google Shape;316;g3fb352be4e5_0_7"/>
          <p:cNvSpPr txBox="1"/>
          <p:nvPr>
            <p:ph idx="1" type="body"/>
          </p:nvPr>
        </p:nvSpPr>
        <p:spPr>
          <a:xfrm>
            <a:off x="1104900" y="1877400"/>
            <a:ext cx="9982200" cy="4294800"/>
          </a:xfrm>
          <a:prstGeom prst="rect">
            <a:avLst/>
          </a:prstGeom>
          <a:noFill/>
          <a:ln>
            <a:noFill/>
          </a:ln>
        </p:spPr>
        <p:txBody>
          <a:bodyPr anchorCtr="0" anchor="t" bIns="45700" lIns="0" spcFirstLastPara="1" rIns="0" wrap="square" tIns="45700">
            <a:noAutofit/>
          </a:bodyPr>
          <a:lstStyle/>
          <a:p>
            <a:pPr indent="0" lvl="0" marL="0" rtl="0" algn="just">
              <a:lnSpc>
                <a:spcPct val="90000"/>
              </a:lnSpc>
              <a:spcBef>
                <a:spcPts val="1800"/>
              </a:spcBef>
              <a:spcAft>
                <a:spcPts val="0"/>
              </a:spcAft>
              <a:buSzPts val="1800"/>
              <a:buNone/>
            </a:pPr>
            <a:r>
              <a:rPr b="1" lang="en-IN" sz="1800">
                <a:solidFill>
                  <a:schemeClr val="dk2"/>
                </a:solidFill>
              </a:rPr>
              <a:t>Major Challenge:</a:t>
            </a:r>
            <a:r>
              <a:rPr lang="en-IN" sz="1800">
                <a:solidFill>
                  <a:schemeClr val="dk2"/>
                </a:solidFill>
              </a:rPr>
              <a:t> Class </a:t>
            </a:r>
            <a:r>
              <a:rPr lang="en-IN" sz="1800">
                <a:solidFill>
                  <a:schemeClr val="dk2"/>
                </a:solidFill>
              </a:rPr>
              <a:t>Imbalance</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l">
              <a:lnSpc>
                <a:spcPct val="115000"/>
              </a:lnSpc>
              <a:spcBef>
                <a:spcPts val="0"/>
              </a:spcBef>
              <a:spcAft>
                <a:spcPts val="0"/>
              </a:spcAft>
              <a:buSzPts val="1100"/>
              <a:buNone/>
            </a:pPr>
            <a:r>
              <a:t/>
            </a:r>
            <a:endParaRPr b="1" sz="1800">
              <a:solidFill>
                <a:schemeClr val="dk2"/>
              </a:solidFill>
            </a:endParaRPr>
          </a:p>
          <a:p>
            <a:pPr indent="0" lvl="0" marL="0" rtl="0" algn="l">
              <a:lnSpc>
                <a:spcPct val="115000"/>
              </a:lnSpc>
              <a:spcBef>
                <a:spcPts val="1200"/>
              </a:spcBef>
              <a:spcAft>
                <a:spcPts val="0"/>
              </a:spcAft>
              <a:buSzPts val="1100"/>
              <a:buNone/>
            </a:pPr>
            <a:r>
              <a:t/>
            </a:r>
            <a:endParaRPr b="1" sz="1800">
              <a:solidFill>
                <a:schemeClr val="dk2"/>
              </a:solidFill>
            </a:endParaRPr>
          </a:p>
          <a:p>
            <a:pPr indent="0" lvl="0" marL="0" rtl="0" algn="l">
              <a:lnSpc>
                <a:spcPct val="115000"/>
              </a:lnSpc>
              <a:spcBef>
                <a:spcPts val="1200"/>
              </a:spcBef>
              <a:spcAft>
                <a:spcPts val="0"/>
              </a:spcAft>
              <a:buSzPts val="1100"/>
              <a:buNone/>
            </a:pPr>
            <a:r>
              <a:t/>
            </a:r>
            <a:endParaRPr b="1" sz="1800">
              <a:solidFill>
                <a:schemeClr val="dk2"/>
              </a:solidFill>
            </a:endParaRPr>
          </a:p>
          <a:p>
            <a:pPr indent="0" lvl="0" marL="0" rtl="0" algn="l">
              <a:lnSpc>
                <a:spcPct val="115000"/>
              </a:lnSpc>
              <a:spcBef>
                <a:spcPts val="1200"/>
              </a:spcBef>
              <a:spcAft>
                <a:spcPts val="0"/>
              </a:spcAft>
              <a:buSzPts val="1100"/>
              <a:buNone/>
            </a:pPr>
            <a:r>
              <a:t/>
            </a:r>
            <a:endParaRPr b="1" sz="1800">
              <a:solidFill>
                <a:schemeClr val="dk2"/>
              </a:solidFill>
            </a:endParaRPr>
          </a:p>
          <a:p>
            <a:pPr indent="0" lvl="0" marL="0" rtl="0" algn="l">
              <a:lnSpc>
                <a:spcPct val="115000"/>
              </a:lnSpc>
              <a:spcBef>
                <a:spcPts val="1200"/>
              </a:spcBef>
              <a:spcAft>
                <a:spcPts val="0"/>
              </a:spcAft>
              <a:buSzPts val="1100"/>
              <a:buNone/>
            </a:pPr>
            <a:r>
              <a:t/>
            </a:r>
            <a:endParaRPr b="1" sz="1800">
              <a:solidFill>
                <a:schemeClr val="dk2"/>
              </a:solidFill>
            </a:endParaRPr>
          </a:p>
          <a:p>
            <a:pPr indent="0" lvl="0" marL="0" rtl="0" algn="l">
              <a:lnSpc>
                <a:spcPct val="115000"/>
              </a:lnSpc>
              <a:spcBef>
                <a:spcPts val="1200"/>
              </a:spcBef>
              <a:spcAft>
                <a:spcPts val="0"/>
              </a:spcAft>
              <a:buClr>
                <a:schemeClr val="dk2"/>
              </a:buClr>
              <a:buSzPts val="1100"/>
              <a:buFont typeface="Arial"/>
              <a:buNone/>
            </a:pPr>
            <a:r>
              <a:rPr b="1" lang="en-IN" sz="1800">
                <a:solidFill>
                  <a:schemeClr val="dk2"/>
                </a:solidFill>
              </a:rPr>
              <a:t>Impact:</a:t>
            </a:r>
            <a:r>
              <a:rPr lang="en-IN" sz="1800">
                <a:solidFill>
                  <a:schemeClr val="dk2"/>
                </a:solidFill>
              </a:rPr>
              <a:t> Minority classes are harder to segment accurately.</a:t>
            </a:r>
            <a:endParaRPr sz="1800">
              <a:solidFill>
                <a:schemeClr val="dk2"/>
              </a:solidFill>
            </a:endParaRPr>
          </a:p>
          <a:p>
            <a:pPr indent="0" lvl="0" marL="0" rtl="0" algn="l">
              <a:lnSpc>
                <a:spcPct val="115000"/>
              </a:lnSpc>
              <a:spcBef>
                <a:spcPts val="1200"/>
              </a:spcBef>
              <a:spcAft>
                <a:spcPts val="0"/>
              </a:spcAft>
              <a:buClr>
                <a:schemeClr val="dk2"/>
              </a:buClr>
              <a:buSzPts val="1100"/>
              <a:buFont typeface="Arial"/>
              <a:buNone/>
            </a:pPr>
            <a:r>
              <a:rPr b="1" lang="en-IN" sz="1800">
                <a:solidFill>
                  <a:schemeClr val="dk2"/>
                </a:solidFill>
              </a:rPr>
              <a:t>Solution tested:</a:t>
            </a:r>
            <a:r>
              <a:rPr lang="en-IN" sz="1800">
                <a:solidFill>
                  <a:schemeClr val="dk2"/>
                </a:solidFill>
              </a:rPr>
              <a:t> </a:t>
            </a:r>
            <a:r>
              <a:rPr b="1" lang="en-IN" sz="1800">
                <a:solidFill>
                  <a:schemeClr val="dk2"/>
                </a:solidFill>
              </a:rPr>
              <a:t>Dice + Cross Entropy Loss</a:t>
            </a:r>
            <a:endParaRPr b="1"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p:txBody>
      </p:sp>
      <p:sp>
        <p:nvSpPr>
          <p:cNvPr id="317" name="Google Shape;317;g3fb352be4e5_0_7"/>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pic>
        <p:nvPicPr>
          <p:cNvPr id="318" name="Google Shape;318;g3fb352be4e5_0_7" title="class_distribution_efficiency_issues.png"/>
          <p:cNvPicPr preferRelativeResize="0"/>
          <p:nvPr/>
        </p:nvPicPr>
        <p:blipFill>
          <a:blip r:embed="rId3">
            <a:alphaModFix/>
          </a:blip>
          <a:stretch>
            <a:fillRect/>
          </a:stretch>
        </p:blipFill>
        <p:spPr>
          <a:xfrm>
            <a:off x="3352375" y="2291975"/>
            <a:ext cx="4544174" cy="28889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fb352be4e5_0_14"/>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Tools And Techniques Used</a:t>
            </a:r>
            <a:endParaRPr>
              <a:solidFill>
                <a:schemeClr val="dk2"/>
              </a:solidFill>
            </a:endParaRPr>
          </a:p>
        </p:txBody>
      </p:sp>
      <p:sp>
        <p:nvSpPr>
          <p:cNvPr id="325" name="Google Shape;325;g3fb352be4e5_0_14"/>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graphicFrame>
        <p:nvGraphicFramePr>
          <p:cNvPr id="326" name="Google Shape;326;g3fb352be4e5_0_14"/>
          <p:cNvGraphicFramePr/>
          <p:nvPr/>
        </p:nvGraphicFramePr>
        <p:xfrm>
          <a:off x="951750" y="1600275"/>
          <a:ext cx="3000000" cy="3000000"/>
        </p:xfrm>
        <a:graphic>
          <a:graphicData uri="http://schemas.openxmlformats.org/drawingml/2006/table">
            <a:tbl>
              <a:tblPr>
                <a:noFill/>
                <a:tableStyleId>{17E15652-B7AC-42DE-A5C9-21E05EB00EC6}</a:tableStyleId>
              </a:tblPr>
              <a:tblGrid>
                <a:gridCol w="5143500"/>
                <a:gridCol w="5143500"/>
              </a:tblGrid>
              <a:tr h="441650">
                <a:tc>
                  <a:txBody>
                    <a:bodyPr/>
                    <a:lstStyle/>
                    <a:p>
                      <a:pPr indent="0" lvl="0" marL="0" rtl="0" algn="l">
                        <a:spcBef>
                          <a:spcPts val="0"/>
                        </a:spcBef>
                        <a:spcAft>
                          <a:spcPts val="0"/>
                        </a:spcAft>
                        <a:buNone/>
                      </a:pPr>
                      <a:r>
                        <a:rPr b="1" lang="en-IN" sz="1800"/>
                        <a:t>Category</a:t>
                      </a:r>
                      <a:endParaRPr b="1" sz="1800"/>
                    </a:p>
                  </a:txBody>
                  <a:tcPr marT="91425" marB="91425" marR="91425" marL="91425"/>
                </a:tc>
                <a:tc>
                  <a:txBody>
                    <a:bodyPr/>
                    <a:lstStyle/>
                    <a:p>
                      <a:pPr indent="0" lvl="0" marL="0" rtl="0" algn="l">
                        <a:spcBef>
                          <a:spcPts val="0"/>
                        </a:spcBef>
                        <a:spcAft>
                          <a:spcPts val="0"/>
                        </a:spcAft>
                        <a:buNone/>
                      </a:pPr>
                      <a:r>
                        <a:rPr b="1" lang="en-IN" sz="1800"/>
                        <a:t>Tools / Techniques</a:t>
                      </a:r>
                      <a:endParaRPr b="1" sz="1800"/>
                    </a:p>
                  </a:txBody>
                  <a:tcPr marT="91425" marB="91425" marR="91425" marL="91425"/>
                </a:tc>
              </a:tr>
              <a:tr h="441650">
                <a:tc>
                  <a:txBody>
                    <a:bodyPr/>
                    <a:lstStyle/>
                    <a:p>
                      <a:pPr indent="0" lvl="0" marL="0" rtl="0" algn="l">
                        <a:spcBef>
                          <a:spcPts val="0"/>
                        </a:spcBef>
                        <a:spcAft>
                          <a:spcPts val="0"/>
                        </a:spcAft>
                        <a:buNone/>
                      </a:pPr>
                      <a:r>
                        <a:rPr lang="en-IN" sz="1800"/>
                        <a:t>Data Source</a:t>
                      </a:r>
                      <a:endParaRPr sz="1800"/>
                    </a:p>
                  </a:txBody>
                  <a:tcPr marT="91425" marB="91425" marR="91425" marL="91425"/>
                </a:tc>
                <a:tc>
                  <a:txBody>
                    <a:bodyPr/>
                    <a:lstStyle/>
                    <a:p>
                      <a:pPr indent="0" lvl="0" marL="0" rtl="0" algn="l">
                        <a:spcBef>
                          <a:spcPts val="0"/>
                        </a:spcBef>
                        <a:spcAft>
                          <a:spcPts val="0"/>
                        </a:spcAft>
                        <a:buNone/>
                      </a:pPr>
                      <a:r>
                        <a:rPr lang="en-IN" sz="1800"/>
                        <a:t>Google Earth Engine</a:t>
                      </a:r>
                      <a:endParaRPr sz="1800"/>
                    </a:p>
                  </a:txBody>
                  <a:tcPr marT="91425" marB="91425" marR="91425" marL="91425"/>
                </a:tc>
              </a:tr>
              <a:tr h="441650">
                <a:tc>
                  <a:txBody>
                    <a:bodyPr/>
                    <a:lstStyle/>
                    <a:p>
                      <a:pPr indent="0" lvl="0" marL="0" rtl="0" algn="l">
                        <a:spcBef>
                          <a:spcPts val="0"/>
                        </a:spcBef>
                        <a:spcAft>
                          <a:spcPts val="0"/>
                        </a:spcAft>
                        <a:buNone/>
                      </a:pPr>
                      <a:r>
                        <a:rPr lang="en-IN" sz="1800"/>
                        <a:t>Computing</a:t>
                      </a:r>
                      <a:endParaRPr sz="1800"/>
                    </a:p>
                  </a:txBody>
                  <a:tcPr marT="91425" marB="91425" marR="91425" marL="91425"/>
                </a:tc>
                <a:tc>
                  <a:txBody>
                    <a:bodyPr/>
                    <a:lstStyle/>
                    <a:p>
                      <a:pPr indent="0" lvl="0" marL="0" rtl="0" algn="l">
                        <a:spcBef>
                          <a:spcPts val="0"/>
                        </a:spcBef>
                        <a:spcAft>
                          <a:spcPts val="0"/>
                        </a:spcAft>
                        <a:buNone/>
                      </a:pPr>
                      <a:r>
                        <a:rPr lang="en-IN" sz="1800"/>
                        <a:t>Google Colab, NVIDIA Tesla T4</a:t>
                      </a:r>
                      <a:endParaRPr sz="1800"/>
                    </a:p>
                  </a:txBody>
                  <a:tcPr marT="91425" marB="91425" marR="91425" marL="91425"/>
                </a:tc>
              </a:tr>
              <a:tr h="441650">
                <a:tc>
                  <a:txBody>
                    <a:bodyPr/>
                    <a:lstStyle/>
                    <a:p>
                      <a:pPr indent="0" lvl="0" marL="0" rtl="0" algn="l">
                        <a:spcBef>
                          <a:spcPts val="0"/>
                        </a:spcBef>
                        <a:spcAft>
                          <a:spcPts val="0"/>
                        </a:spcAft>
                        <a:buNone/>
                      </a:pPr>
                      <a:r>
                        <a:rPr lang="en-IN" sz="1800"/>
                        <a:t>Programming</a:t>
                      </a:r>
                      <a:endParaRPr sz="1800"/>
                    </a:p>
                  </a:txBody>
                  <a:tcPr marT="91425" marB="91425" marR="91425" marL="91425"/>
                </a:tc>
                <a:tc>
                  <a:txBody>
                    <a:bodyPr/>
                    <a:lstStyle/>
                    <a:p>
                      <a:pPr indent="0" lvl="0" marL="0" rtl="0" algn="l">
                        <a:spcBef>
                          <a:spcPts val="0"/>
                        </a:spcBef>
                        <a:spcAft>
                          <a:spcPts val="0"/>
                        </a:spcAft>
                        <a:buNone/>
                      </a:pPr>
                      <a:r>
                        <a:rPr lang="en-IN" sz="1800"/>
                        <a:t>Python</a:t>
                      </a:r>
                      <a:endParaRPr sz="1800"/>
                    </a:p>
                  </a:txBody>
                  <a:tcPr marT="91425" marB="91425" marR="91425" marL="91425"/>
                </a:tc>
              </a:tr>
              <a:tr h="441650">
                <a:tc>
                  <a:txBody>
                    <a:bodyPr/>
                    <a:lstStyle/>
                    <a:p>
                      <a:pPr indent="0" lvl="0" marL="0" rtl="0" algn="l">
                        <a:spcBef>
                          <a:spcPts val="0"/>
                        </a:spcBef>
                        <a:spcAft>
                          <a:spcPts val="0"/>
                        </a:spcAft>
                        <a:buNone/>
                      </a:pPr>
                      <a:r>
                        <a:rPr lang="en-IN" sz="1800"/>
                        <a:t>Deep Learning</a:t>
                      </a:r>
                      <a:endParaRPr sz="1800"/>
                    </a:p>
                  </a:txBody>
                  <a:tcPr marT="91425" marB="91425" marR="91425" marL="91425"/>
                </a:tc>
                <a:tc>
                  <a:txBody>
                    <a:bodyPr/>
                    <a:lstStyle/>
                    <a:p>
                      <a:pPr indent="0" lvl="0" marL="0" rtl="0" algn="l">
                        <a:spcBef>
                          <a:spcPts val="0"/>
                        </a:spcBef>
                        <a:spcAft>
                          <a:spcPts val="0"/>
                        </a:spcAft>
                        <a:buNone/>
                      </a:pPr>
                      <a:r>
                        <a:rPr lang="en-IN" sz="1800"/>
                        <a:t>PyTorch</a:t>
                      </a:r>
                      <a:endParaRPr sz="1800"/>
                    </a:p>
                  </a:txBody>
                  <a:tcPr marT="91425" marB="91425" marR="91425" marL="91425"/>
                </a:tc>
              </a:tr>
              <a:tr h="441650">
                <a:tc>
                  <a:txBody>
                    <a:bodyPr/>
                    <a:lstStyle/>
                    <a:p>
                      <a:pPr indent="0" lvl="0" marL="0" rtl="0" algn="l">
                        <a:spcBef>
                          <a:spcPts val="0"/>
                        </a:spcBef>
                        <a:spcAft>
                          <a:spcPts val="0"/>
                        </a:spcAft>
                        <a:buNone/>
                      </a:pPr>
                      <a:r>
                        <a:rPr lang="en-IN" sz="1800"/>
                        <a:t>Data Processing</a:t>
                      </a:r>
                      <a:endParaRPr sz="1800"/>
                    </a:p>
                  </a:txBody>
                  <a:tcPr marT="91425" marB="91425" marR="91425" marL="91425"/>
                </a:tc>
                <a:tc>
                  <a:txBody>
                    <a:bodyPr/>
                    <a:lstStyle/>
                    <a:p>
                      <a:pPr indent="0" lvl="0" marL="0" rtl="0" algn="l">
                        <a:spcBef>
                          <a:spcPts val="0"/>
                        </a:spcBef>
                        <a:spcAft>
                          <a:spcPts val="0"/>
                        </a:spcAft>
                        <a:buNone/>
                      </a:pPr>
                      <a:r>
                        <a:rPr lang="en-IN" sz="1800"/>
                        <a:t>Rasterio, NumPy</a:t>
                      </a:r>
                      <a:endParaRPr sz="1800"/>
                    </a:p>
                  </a:txBody>
                  <a:tcPr marT="91425" marB="91425" marR="91425" marL="91425"/>
                </a:tc>
              </a:tr>
              <a:tr h="441650">
                <a:tc>
                  <a:txBody>
                    <a:bodyPr/>
                    <a:lstStyle/>
                    <a:p>
                      <a:pPr indent="0" lvl="0" marL="0" rtl="0" algn="l">
                        <a:spcBef>
                          <a:spcPts val="0"/>
                        </a:spcBef>
                        <a:spcAft>
                          <a:spcPts val="0"/>
                        </a:spcAft>
                        <a:buNone/>
                      </a:pPr>
                      <a:r>
                        <a:rPr lang="en-IN" sz="1800"/>
                        <a:t>Visualization</a:t>
                      </a:r>
                      <a:endParaRPr sz="1800"/>
                    </a:p>
                  </a:txBody>
                  <a:tcPr marT="91425" marB="91425" marR="91425" marL="91425"/>
                </a:tc>
                <a:tc>
                  <a:txBody>
                    <a:bodyPr/>
                    <a:lstStyle/>
                    <a:p>
                      <a:pPr indent="0" lvl="0" marL="0" rtl="0" algn="l">
                        <a:spcBef>
                          <a:spcPts val="0"/>
                        </a:spcBef>
                        <a:spcAft>
                          <a:spcPts val="0"/>
                        </a:spcAft>
                        <a:buNone/>
                      </a:pPr>
                      <a:r>
                        <a:rPr lang="en-IN" sz="1800"/>
                        <a:t>Matplotlib</a:t>
                      </a:r>
                      <a:endParaRPr sz="1800"/>
                    </a:p>
                  </a:txBody>
                  <a:tcPr marT="91425" marB="91425" marR="91425" marL="91425"/>
                </a:tc>
              </a:tr>
              <a:tr h="441650">
                <a:tc>
                  <a:txBody>
                    <a:bodyPr/>
                    <a:lstStyle/>
                    <a:p>
                      <a:pPr indent="0" lvl="0" marL="0" rtl="0" algn="l">
                        <a:spcBef>
                          <a:spcPts val="0"/>
                        </a:spcBef>
                        <a:spcAft>
                          <a:spcPts val="0"/>
                        </a:spcAft>
                        <a:buNone/>
                      </a:pPr>
                      <a:r>
                        <a:rPr lang="en-IN" sz="1800"/>
                        <a:t>Models</a:t>
                      </a:r>
                      <a:endParaRPr sz="1800"/>
                    </a:p>
                  </a:txBody>
                  <a:tcPr marT="91425" marB="91425" marR="91425" marL="91425"/>
                </a:tc>
                <a:tc>
                  <a:txBody>
                    <a:bodyPr/>
                    <a:lstStyle/>
                    <a:p>
                      <a:pPr indent="0" lvl="0" marL="0" rtl="0" algn="l">
                        <a:spcBef>
                          <a:spcPts val="0"/>
                        </a:spcBef>
                        <a:spcAft>
                          <a:spcPts val="0"/>
                        </a:spcAft>
                        <a:buNone/>
                      </a:pPr>
                      <a:r>
                        <a:rPr lang="en-IN" sz="1800"/>
                        <a:t>U-Net, Attention U-Net</a:t>
                      </a:r>
                      <a:endParaRPr sz="1800"/>
                    </a:p>
                  </a:txBody>
                  <a:tcPr marT="91425" marB="91425" marR="91425" marL="91425"/>
                </a:tc>
              </a:tr>
              <a:tr h="441650">
                <a:tc>
                  <a:txBody>
                    <a:bodyPr/>
                    <a:lstStyle/>
                    <a:p>
                      <a:pPr indent="0" lvl="0" marL="0" rtl="0" algn="l">
                        <a:spcBef>
                          <a:spcPts val="0"/>
                        </a:spcBef>
                        <a:spcAft>
                          <a:spcPts val="0"/>
                        </a:spcAft>
                        <a:buNone/>
                      </a:pPr>
                      <a:r>
                        <a:rPr lang="en-IN" sz="1800"/>
                        <a:t>Loss Functions</a:t>
                      </a:r>
                      <a:endParaRPr sz="1800"/>
                    </a:p>
                  </a:txBody>
                  <a:tcPr marT="91425" marB="91425" marR="91425" marL="91425"/>
                </a:tc>
                <a:tc>
                  <a:txBody>
                    <a:bodyPr/>
                    <a:lstStyle/>
                    <a:p>
                      <a:pPr indent="0" lvl="0" marL="0" rtl="0" algn="l">
                        <a:spcBef>
                          <a:spcPts val="0"/>
                        </a:spcBef>
                        <a:spcAft>
                          <a:spcPts val="0"/>
                        </a:spcAft>
                        <a:buNone/>
                      </a:pPr>
                      <a:r>
                        <a:rPr lang="en-IN" sz="1800"/>
                        <a:t>Cross Entropy, Dice + Cross Entropy</a:t>
                      </a:r>
                      <a:endParaRPr sz="1800"/>
                    </a:p>
                  </a:txBody>
                  <a:tcPr marT="91425" marB="91425" marR="91425" marL="91425"/>
                </a:tc>
              </a:tr>
              <a:tr h="441650">
                <a:tc>
                  <a:txBody>
                    <a:bodyPr/>
                    <a:lstStyle/>
                    <a:p>
                      <a:pPr indent="0" lvl="0" marL="0" rtl="0" algn="l">
                        <a:spcBef>
                          <a:spcPts val="0"/>
                        </a:spcBef>
                        <a:spcAft>
                          <a:spcPts val="0"/>
                        </a:spcAft>
                        <a:buNone/>
                      </a:pPr>
                      <a:r>
                        <a:rPr lang="en-IN" sz="1800"/>
                        <a:t>Optimization</a:t>
                      </a:r>
                      <a:endParaRPr sz="1800"/>
                    </a:p>
                  </a:txBody>
                  <a:tcPr marT="91425" marB="91425" marR="91425" marL="91425"/>
                </a:tc>
                <a:tc>
                  <a:txBody>
                    <a:bodyPr/>
                    <a:lstStyle/>
                    <a:p>
                      <a:pPr indent="0" lvl="0" marL="0" rtl="0" algn="l">
                        <a:spcBef>
                          <a:spcPts val="0"/>
                        </a:spcBef>
                        <a:spcAft>
                          <a:spcPts val="0"/>
                        </a:spcAft>
                        <a:buNone/>
                      </a:pPr>
                      <a:r>
                        <a:rPr lang="en-IN" sz="1800"/>
                        <a:t>Adam</a:t>
                      </a:r>
                      <a:endParaRPr sz="1800"/>
                    </a:p>
                  </a:txBody>
                  <a:tcPr marT="91425" marB="91425" marR="91425" marL="91425"/>
                </a:tc>
              </a:tr>
              <a:tr h="441650">
                <a:tc>
                  <a:txBody>
                    <a:bodyPr/>
                    <a:lstStyle/>
                    <a:p>
                      <a:pPr indent="0" lvl="0" marL="0" rtl="0" algn="l">
                        <a:spcBef>
                          <a:spcPts val="0"/>
                        </a:spcBef>
                        <a:spcAft>
                          <a:spcPts val="0"/>
                        </a:spcAft>
                        <a:buNone/>
                      </a:pPr>
                      <a:r>
                        <a:rPr lang="en-IN" sz="1800"/>
                        <a:t>Evaluation</a:t>
                      </a:r>
                      <a:endParaRPr sz="1800"/>
                    </a:p>
                  </a:txBody>
                  <a:tcPr marT="91425" marB="91425" marR="91425" marL="91425"/>
                </a:tc>
                <a:tc>
                  <a:txBody>
                    <a:bodyPr/>
                    <a:lstStyle/>
                    <a:p>
                      <a:pPr indent="0" lvl="0" marL="0" rtl="0" algn="l">
                        <a:spcBef>
                          <a:spcPts val="0"/>
                        </a:spcBef>
                        <a:spcAft>
                          <a:spcPts val="0"/>
                        </a:spcAft>
                        <a:buNone/>
                      </a:pPr>
                      <a:r>
                        <a:rPr lang="en-IN" sz="1800"/>
                        <a:t>Accuracy, IoU, Dice, Confusion Matrix</a:t>
                      </a:r>
                      <a:endParaRPr sz="1800"/>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fb352be4e5_3_2"/>
          <p:cNvSpPr txBox="1"/>
          <p:nvPr>
            <p:ph type="title"/>
          </p:nvPr>
        </p:nvSpPr>
        <p:spPr>
          <a:xfrm>
            <a:off x="1104900" y="283000"/>
            <a:ext cx="9980700" cy="890400"/>
          </a:xfrm>
          <a:prstGeom prst="rect">
            <a:avLst/>
          </a:prstGeom>
        </p:spPr>
        <p:txBody>
          <a:bodyPr anchorCtr="0" anchor="b" bIns="45700" lIns="0" spcFirstLastPara="1" rIns="0" wrap="square" tIns="45700">
            <a:normAutofit/>
          </a:bodyPr>
          <a:lstStyle/>
          <a:p>
            <a:pPr indent="0" lvl="0" marL="0" rtl="0" algn="l">
              <a:spcBef>
                <a:spcPts val="0"/>
              </a:spcBef>
              <a:spcAft>
                <a:spcPts val="0"/>
              </a:spcAft>
              <a:buClr>
                <a:srgbClr val="000000"/>
              </a:buClr>
              <a:buSzPts val="1800"/>
              <a:buFont typeface="Arial"/>
              <a:buNone/>
            </a:pPr>
            <a:r>
              <a:rPr lang="en-IN">
                <a:solidFill>
                  <a:schemeClr val="dk2"/>
                </a:solidFill>
              </a:rPr>
              <a:t>Tools And Techniques Used</a:t>
            </a:r>
            <a:endParaRPr/>
          </a:p>
        </p:txBody>
      </p:sp>
      <p:sp>
        <p:nvSpPr>
          <p:cNvPr id="333" name="Google Shape;333;g3fb352be4e5_3_2"/>
          <p:cNvSpPr txBox="1"/>
          <p:nvPr>
            <p:ph idx="1" type="body"/>
          </p:nvPr>
        </p:nvSpPr>
        <p:spPr>
          <a:xfrm>
            <a:off x="1104900" y="1490875"/>
            <a:ext cx="10269900" cy="4865400"/>
          </a:xfrm>
          <a:prstGeom prst="rect">
            <a:avLst/>
          </a:prstGeom>
        </p:spPr>
        <p:txBody>
          <a:bodyPr anchorCtr="0" anchor="t" bIns="45700" lIns="0" spcFirstLastPara="1" rIns="0" wrap="square" tIns="45700">
            <a:normAutofit fontScale="25000" lnSpcReduction="20000"/>
          </a:bodyPr>
          <a:lstStyle/>
          <a:p>
            <a:pPr indent="0" lvl="0" marL="0" rtl="0" algn="l">
              <a:spcBef>
                <a:spcPts val="1800"/>
              </a:spcBef>
              <a:spcAft>
                <a:spcPts val="0"/>
              </a:spcAft>
              <a:buNone/>
            </a:pPr>
            <a:r>
              <a:rPr b="1" lang="en-IN" sz="7200"/>
              <a:t>Frontend Development :</a:t>
            </a:r>
            <a:endParaRPr b="1" sz="7200"/>
          </a:p>
          <a:p>
            <a:pPr indent="-342900" lvl="0" marL="457200" rtl="0" algn="l">
              <a:spcBef>
                <a:spcPts val="1800"/>
              </a:spcBef>
              <a:spcAft>
                <a:spcPts val="0"/>
              </a:spcAft>
              <a:buSzPct val="100000"/>
              <a:buChar char="▪"/>
            </a:pPr>
            <a:r>
              <a:rPr lang="en-IN" sz="7200"/>
              <a:t>React 19 + TypeScript</a:t>
            </a:r>
            <a:endParaRPr sz="7200"/>
          </a:p>
          <a:p>
            <a:pPr indent="-342900" lvl="0" marL="457200" rtl="0" algn="l">
              <a:spcBef>
                <a:spcPts val="0"/>
              </a:spcBef>
              <a:spcAft>
                <a:spcPts val="0"/>
              </a:spcAft>
              <a:buSzPct val="100000"/>
              <a:buChar char="▪"/>
            </a:pPr>
            <a:r>
              <a:rPr lang="en-IN" sz="7200"/>
              <a:t>Vite</a:t>
            </a:r>
            <a:endParaRPr sz="7200"/>
          </a:p>
          <a:p>
            <a:pPr indent="-342900" lvl="0" marL="457200" rtl="0" algn="l">
              <a:spcBef>
                <a:spcPts val="0"/>
              </a:spcBef>
              <a:spcAft>
                <a:spcPts val="0"/>
              </a:spcAft>
              <a:buSzPct val="100000"/>
              <a:buChar char="▪"/>
            </a:pPr>
            <a:r>
              <a:rPr lang="en-IN" sz="7200"/>
              <a:t>Tailwind CSS v4</a:t>
            </a:r>
            <a:endParaRPr sz="7200"/>
          </a:p>
          <a:p>
            <a:pPr indent="-342900" lvl="0" marL="457200" rtl="0" algn="l">
              <a:spcBef>
                <a:spcPts val="0"/>
              </a:spcBef>
              <a:spcAft>
                <a:spcPts val="0"/>
              </a:spcAft>
              <a:buSzPct val="100000"/>
              <a:buChar char="▪"/>
            </a:pPr>
            <a:r>
              <a:rPr lang="en-IN" sz="7200"/>
              <a:t>Framer Motion</a:t>
            </a:r>
            <a:endParaRPr sz="7200"/>
          </a:p>
          <a:p>
            <a:pPr indent="-342900" lvl="0" marL="457200" rtl="0" algn="l">
              <a:spcBef>
                <a:spcPts val="0"/>
              </a:spcBef>
              <a:spcAft>
                <a:spcPts val="0"/>
              </a:spcAft>
              <a:buSzPct val="100000"/>
              <a:buChar char="▪"/>
            </a:pPr>
            <a:r>
              <a:rPr lang="en-IN" sz="7200"/>
              <a:t>React Leaflet (maps)</a:t>
            </a:r>
            <a:endParaRPr sz="7200"/>
          </a:p>
          <a:p>
            <a:pPr indent="0" lvl="0" marL="0" rtl="0" algn="l">
              <a:spcBef>
                <a:spcPts val="1800"/>
              </a:spcBef>
              <a:spcAft>
                <a:spcPts val="0"/>
              </a:spcAft>
              <a:buNone/>
            </a:pPr>
            <a:r>
              <a:rPr b="1" lang="en-IN" sz="7200"/>
              <a:t>Backend Development:</a:t>
            </a:r>
            <a:endParaRPr b="1" sz="7200"/>
          </a:p>
          <a:p>
            <a:pPr indent="-342900" lvl="0" marL="457200" rtl="0" algn="l">
              <a:spcBef>
                <a:spcPts val="1800"/>
              </a:spcBef>
              <a:spcAft>
                <a:spcPts val="0"/>
              </a:spcAft>
              <a:buSzPct val="100000"/>
              <a:buChar char="▪"/>
            </a:pPr>
            <a:r>
              <a:rPr lang="en-IN" sz="7200"/>
              <a:t>Node.js + Express</a:t>
            </a:r>
            <a:endParaRPr sz="7200"/>
          </a:p>
          <a:p>
            <a:pPr indent="-342900" lvl="0" marL="457200" rtl="0" algn="l">
              <a:spcBef>
                <a:spcPts val="0"/>
              </a:spcBef>
              <a:spcAft>
                <a:spcPts val="0"/>
              </a:spcAft>
              <a:buSzPct val="100000"/>
              <a:buChar char="▪"/>
            </a:pPr>
            <a:r>
              <a:rPr lang="en-IN" sz="7200"/>
              <a:t>Google Earth Engine </a:t>
            </a:r>
            <a:endParaRPr sz="7200"/>
          </a:p>
          <a:p>
            <a:pPr indent="-342900" lvl="0" marL="457200" rtl="0" algn="l">
              <a:spcBef>
                <a:spcPts val="0"/>
              </a:spcBef>
              <a:spcAft>
                <a:spcPts val="0"/>
              </a:spcAft>
              <a:buSzPct val="100000"/>
              <a:buChar char="▪"/>
            </a:pPr>
            <a:r>
              <a:rPr lang="en-IN" sz="7200"/>
              <a:t>Python / scikit-learn </a:t>
            </a:r>
            <a:endParaRPr sz="7200"/>
          </a:p>
          <a:p>
            <a:pPr indent="-342900" lvl="0" marL="457200" rtl="0" algn="l">
              <a:spcBef>
                <a:spcPts val="0"/>
              </a:spcBef>
              <a:spcAft>
                <a:spcPts val="0"/>
              </a:spcAft>
              <a:buSzPct val="100000"/>
              <a:buChar char="▪"/>
            </a:pPr>
            <a:r>
              <a:rPr lang="en-IN" sz="7200"/>
              <a:t>joblib (model serialization)</a:t>
            </a:r>
            <a:endParaRPr sz="7200"/>
          </a:p>
          <a:p>
            <a:pPr indent="0" lvl="0" marL="0" rtl="0" algn="l">
              <a:spcBef>
                <a:spcPts val="1800"/>
              </a:spcBef>
              <a:spcAft>
                <a:spcPts val="0"/>
              </a:spcAft>
              <a:buNone/>
            </a:pPr>
            <a:r>
              <a:rPr b="1" lang="en-IN" sz="7200"/>
              <a:t>Data Sources:</a:t>
            </a:r>
            <a:endParaRPr b="1" sz="7200"/>
          </a:p>
          <a:p>
            <a:pPr indent="-342900" lvl="0" marL="457200" rtl="0" algn="l">
              <a:spcBef>
                <a:spcPts val="1800"/>
              </a:spcBef>
              <a:spcAft>
                <a:spcPts val="0"/>
              </a:spcAft>
              <a:buSzPct val="100000"/>
              <a:buChar char="▪"/>
            </a:pPr>
            <a:r>
              <a:rPr lang="en-IN" sz="7200"/>
              <a:t>Sentinel-2 </a:t>
            </a:r>
            <a:endParaRPr sz="7200"/>
          </a:p>
          <a:p>
            <a:pPr indent="-342900" lvl="0" marL="457200" rtl="0" algn="l">
              <a:spcBef>
                <a:spcPts val="0"/>
              </a:spcBef>
              <a:spcAft>
                <a:spcPts val="0"/>
              </a:spcAft>
              <a:buSzPct val="100000"/>
              <a:buChar char="▪"/>
            </a:pPr>
            <a:r>
              <a:rPr lang="en-IN" sz="7200"/>
              <a:t>Sentinel-1 SAR</a:t>
            </a:r>
            <a:endParaRPr sz="7200"/>
          </a:p>
          <a:p>
            <a:pPr indent="-342900" lvl="0" marL="457200" rtl="0" algn="l">
              <a:spcBef>
                <a:spcPts val="0"/>
              </a:spcBef>
              <a:spcAft>
                <a:spcPts val="0"/>
              </a:spcAft>
              <a:buSzPct val="100000"/>
              <a:buChar char="▪"/>
            </a:pPr>
            <a:r>
              <a:rPr lang="en-IN" sz="7200"/>
              <a:t>SRTM DEM </a:t>
            </a:r>
            <a:endParaRPr sz="7200"/>
          </a:p>
          <a:p>
            <a:pPr indent="-342900" lvl="0" marL="457200" rtl="0" algn="l">
              <a:spcBef>
                <a:spcPts val="0"/>
              </a:spcBef>
              <a:spcAft>
                <a:spcPts val="0"/>
              </a:spcAft>
              <a:buSzPct val="100000"/>
              <a:buChar char="▪"/>
            </a:pPr>
            <a:r>
              <a:rPr lang="en-IN" sz="7200"/>
              <a:t>ERA5 (temperature/rainfall)</a:t>
            </a:r>
            <a:endParaRPr sz="7200"/>
          </a:p>
          <a:p>
            <a:pPr indent="-342900" lvl="0" marL="457200" rtl="0" algn="l">
              <a:spcBef>
                <a:spcPts val="0"/>
              </a:spcBef>
              <a:spcAft>
                <a:spcPts val="0"/>
              </a:spcAft>
              <a:buSzPct val="100000"/>
              <a:buChar char="▪"/>
            </a:pPr>
            <a:r>
              <a:rPr lang="en-IN" sz="7200"/>
              <a:t>JRC Global Surface Water (water distance)</a:t>
            </a:r>
            <a:endParaRPr sz="7200"/>
          </a:p>
          <a:p>
            <a:pPr indent="0" lvl="0" marL="0" rtl="0" algn="l">
              <a:spcBef>
                <a:spcPts val="1800"/>
              </a:spcBef>
              <a:spcAft>
                <a:spcPts val="0"/>
              </a:spcAft>
              <a:buClr>
                <a:schemeClr val="dk2"/>
              </a:buClr>
              <a:buSzPts val="275"/>
              <a:buFont typeface="Arial"/>
              <a:buNone/>
            </a:pPr>
            <a:r>
              <a:t/>
            </a:r>
            <a:endParaRPr sz="7200"/>
          </a:p>
          <a:p>
            <a:pPr indent="0" lvl="0" marL="0" rtl="0" algn="l">
              <a:spcBef>
                <a:spcPts val="1800"/>
              </a:spcBef>
              <a:spcAft>
                <a:spcPts val="0"/>
              </a:spcAft>
              <a:buNone/>
            </a:pPr>
            <a:r>
              <a:t/>
            </a:r>
            <a:endParaRPr b="1" sz="7200"/>
          </a:p>
          <a:p>
            <a:pPr indent="0" lvl="0" marL="0" rtl="0" algn="l">
              <a:spcBef>
                <a:spcPts val="1800"/>
              </a:spcBef>
              <a:spcAft>
                <a:spcPts val="0"/>
              </a:spcAft>
              <a:buNone/>
            </a:pPr>
            <a:r>
              <a:t/>
            </a:r>
            <a:endParaRPr b="1" sz="7200"/>
          </a:p>
          <a:p>
            <a:pPr indent="0" lvl="0" marL="457200" rtl="0" algn="l">
              <a:spcBef>
                <a:spcPts val="1800"/>
              </a:spcBef>
              <a:spcAft>
                <a:spcPts val="0"/>
              </a:spcAft>
              <a:buNone/>
            </a:pPr>
            <a:r>
              <a:t/>
            </a:r>
            <a:endParaRPr b="1" sz="7200"/>
          </a:p>
          <a:p>
            <a:pPr indent="0" lvl="0" marL="0" rtl="0" algn="l">
              <a:spcBef>
                <a:spcPts val="1800"/>
              </a:spcBef>
              <a:spcAft>
                <a:spcPts val="0"/>
              </a:spcAft>
              <a:buNone/>
            </a:pPr>
            <a:r>
              <a:t/>
            </a:r>
            <a:endParaRPr b="1" sz="7200"/>
          </a:p>
          <a:p>
            <a:pPr indent="0" lvl="0" marL="0" rtl="0" algn="l">
              <a:spcBef>
                <a:spcPts val="1800"/>
              </a:spcBef>
              <a:spcAft>
                <a:spcPts val="0"/>
              </a:spcAft>
              <a:buClr>
                <a:schemeClr val="dk2"/>
              </a:buClr>
              <a:buSzPts val="275"/>
              <a:buFont typeface="Arial"/>
              <a:buNone/>
            </a:pPr>
            <a:r>
              <a:t/>
            </a:r>
            <a:endParaRPr b="1" sz="7200"/>
          </a:p>
          <a:p>
            <a:pPr indent="0" lvl="0" marL="0" rtl="0" algn="l">
              <a:spcBef>
                <a:spcPts val="1800"/>
              </a:spcBef>
              <a:spcAft>
                <a:spcPts val="0"/>
              </a:spcAft>
              <a:buNone/>
            </a:pPr>
            <a:r>
              <a:t/>
            </a:r>
            <a:endParaRPr b="1" sz="7200"/>
          </a:p>
          <a:p>
            <a:pPr indent="0" lvl="0" marL="0" rtl="0" algn="l">
              <a:spcBef>
                <a:spcPts val="1800"/>
              </a:spcBef>
              <a:spcAft>
                <a:spcPts val="0"/>
              </a:spcAft>
              <a:buNone/>
            </a:pPr>
            <a:r>
              <a:t/>
            </a:r>
            <a:endParaRPr b="1" sz="7200"/>
          </a:p>
          <a:p>
            <a:pPr indent="0" lvl="0" marL="0" rtl="0" algn="l">
              <a:spcBef>
                <a:spcPts val="1800"/>
              </a:spcBef>
              <a:spcAft>
                <a:spcPts val="0"/>
              </a:spcAft>
              <a:buNone/>
            </a:pPr>
            <a:r>
              <a:t/>
            </a:r>
            <a:endParaRPr b="1" sz="1800"/>
          </a:p>
          <a:p>
            <a:pPr indent="0" lvl="0" marL="0" rtl="0" algn="l">
              <a:spcBef>
                <a:spcPts val="1800"/>
              </a:spcBef>
              <a:spcAft>
                <a:spcPts val="0"/>
              </a:spcAft>
              <a:buNone/>
            </a:pPr>
            <a:r>
              <a:t/>
            </a:r>
            <a:endParaRPr b="1" sz="1800"/>
          </a:p>
          <a:p>
            <a:pPr indent="0" lvl="0" marL="0" rtl="0" algn="l">
              <a:spcBef>
                <a:spcPts val="1800"/>
              </a:spcBef>
              <a:spcAft>
                <a:spcPts val="0"/>
              </a:spcAft>
              <a:buClr>
                <a:schemeClr val="dk2"/>
              </a:buClr>
              <a:buSzPct val="61111"/>
              <a:buFont typeface="Arial"/>
              <a:buNone/>
            </a:pPr>
            <a:r>
              <a:t/>
            </a:r>
            <a:endParaRPr b="1" sz="1800"/>
          </a:p>
          <a:p>
            <a:pPr indent="0" lvl="0" marL="0" rtl="0" algn="l">
              <a:spcBef>
                <a:spcPts val="1800"/>
              </a:spcBef>
              <a:spcAft>
                <a:spcPts val="0"/>
              </a:spcAft>
              <a:buNone/>
            </a:pPr>
            <a:r>
              <a:t/>
            </a:r>
            <a:endParaRPr b="1" sz="1800"/>
          </a:p>
          <a:p>
            <a:pPr indent="0" lvl="0" marL="0" rtl="0" algn="l">
              <a:spcBef>
                <a:spcPts val="1800"/>
              </a:spcBef>
              <a:spcAft>
                <a:spcPts val="0"/>
              </a:spcAft>
              <a:buNone/>
            </a:pPr>
            <a:r>
              <a:t/>
            </a:r>
            <a:endParaRPr b="1" sz="1800"/>
          </a:p>
        </p:txBody>
      </p:sp>
      <p:sp>
        <p:nvSpPr>
          <p:cNvPr id="334" name="Google Shape;334;g3fb352be4e5_3_2"/>
          <p:cNvSpPr txBox="1"/>
          <p:nvPr>
            <p:ph idx="12" type="sldNum"/>
          </p:nvPr>
        </p:nvSpPr>
        <p:spPr>
          <a:xfrm>
            <a:off x="9256782" y="6356351"/>
            <a:ext cx="1828800" cy="365100"/>
          </a:xfrm>
          <a:prstGeom prst="rect">
            <a:avLst/>
          </a:prstGeom>
        </p:spPr>
        <p:txBody>
          <a:bodyPr anchorCtr="0" anchor="ctr" bIns="45700" lIns="0" spcFirstLastPara="1" rIns="0"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fb352be4e5_0_81"/>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Implementation Status And Model Comparison</a:t>
            </a:r>
            <a:endParaRPr>
              <a:solidFill>
                <a:schemeClr val="dk2"/>
              </a:solidFill>
            </a:endParaRPr>
          </a:p>
        </p:txBody>
      </p:sp>
      <p:sp>
        <p:nvSpPr>
          <p:cNvPr id="341" name="Google Shape;341;g3fb352be4e5_0_81"/>
          <p:cNvSpPr txBox="1"/>
          <p:nvPr>
            <p:ph idx="1" type="body"/>
          </p:nvPr>
        </p:nvSpPr>
        <p:spPr>
          <a:xfrm>
            <a:off x="1104150" y="1525450"/>
            <a:ext cx="9982200" cy="4830900"/>
          </a:xfrm>
          <a:prstGeom prst="rect">
            <a:avLst/>
          </a:prstGeom>
          <a:noFill/>
          <a:ln>
            <a:noFill/>
          </a:ln>
        </p:spPr>
        <p:txBody>
          <a:bodyPr anchorCtr="0" anchor="t" bIns="45700" lIns="0" spcFirstLastPara="1" rIns="0" wrap="square" tIns="45700">
            <a:normAutofit/>
          </a:bodyPr>
          <a:lstStyle/>
          <a:p>
            <a:pPr indent="0" lvl="0" marL="0" rtl="0" algn="l">
              <a:lnSpc>
                <a:spcPct val="115000"/>
              </a:lnSpc>
              <a:spcBef>
                <a:spcPts val="1400"/>
              </a:spcBef>
              <a:spcAft>
                <a:spcPts val="0"/>
              </a:spcAft>
              <a:buClr>
                <a:schemeClr val="dk2"/>
              </a:buClr>
              <a:buSzPts val="1100"/>
              <a:buFont typeface="Arial"/>
              <a:buNone/>
            </a:pPr>
            <a:r>
              <a:rPr b="1" lang="en-IN" sz="1800">
                <a:solidFill>
                  <a:schemeClr val="dk2"/>
                </a:solidFill>
              </a:rPr>
              <a:t>Completed</a:t>
            </a:r>
            <a:endParaRPr b="1" sz="1800">
              <a:solidFill>
                <a:schemeClr val="dk2"/>
              </a:solidFill>
            </a:endParaRPr>
          </a:p>
          <a:p>
            <a:pPr indent="-342900" lvl="0" marL="457200" rtl="0" algn="l">
              <a:lnSpc>
                <a:spcPct val="115000"/>
              </a:lnSpc>
              <a:spcBef>
                <a:spcPts val="1200"/>
              </a:spcBef>
              <a:spcAft>
                <a:spcPts val="0"/>
              </a:spcAft>
              <a:buClr>
                <a:schemeClr val="dk2"/>
              </a:buClr>
              <a:buSzPts val="1800"/>
              <a:buFont typeface="Arial"/>
              <a:buChar char="●"/>
            </a:pPr>
            <a:r>
              <a:rPr lang="en-IN" sz="1800">
                <a:solidFill>
                  <a:schemeClr val="dk2"/>
                </a:solidFill>
              </a:rPr>
              <a:t>11-channel dataset preparation and validation</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Region-wise train/validation/test split</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PyTorch Dataset and DataLoader</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Multiple segmentation models trained</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Different loss functions evaluated</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Frontend development is completed</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lang="en-IN" sz="1800">
                <a:solidFill>
                  <a:schemeClr val="dk2"/>
                </a:solidFill>
              </a:rPr>
              <a:t>Best-performing configuration identified</a:t>
            </a:r>
            <a:endParaRPr sz="1800">
              <a:solidFill>
                <a:schemeClr val="dk2"/>
              </a:solidFill>
            </a:endParaRPr>
          </a:p>
          <a:p>
            <a:pPr indent="0" lvl="0" marL="457200" rtl="0" algn="l">
              <a:lnSpc>
                <a:spcPct val="115000"/>
              </a:lnSpc>
              <a:spcBef>
                <a:spcPts val="1200"/>
              </a:spcBef>
              <a:spcAft>
                <a:spcPts val="0"/>
              </a:spcAft>
              <a:buNone/>
            </a:pPr>
            <a:r>
              <a:t/>
            </a:r>
            <a:endParaRPr sz="1800">
              <a:solidFill>
                <a:schemeClr val="dk2"/>
              </a:solidFill>
            </a:endParaRPr>
          </a:p>
          <a:p>
            <a:pPr indent="0" lvl="0" marL="45720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p:txBody>
      </p:sp>
      <p:sp>
        <p:nvSpPr>
          <p:cNvPr id="342" name="Google Shape;342;g3fb352be4e5_0_81"/>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graphicFrame>
        <p:nvGraphicFramePr>
          <p:cNvPr id="343" name="Google Shape;343;g3fb352be4e5_0_81"/>
          <p:cNvGraphicFramePr/>
          <p:nvPr/>
        </p:nvGraphicFramePr>
        <p:xfrm>
          <a:off x="925650" y="4378775"/>
          <a:ext cx="3000000" cy="3000000"/>
        </p:xfrm>
        <a:graphic>
          <a:graphicData uri="http://schemas.openxmlformats.org/drawingml/2006/table">
            <a:tbl>
              <a:tblPr>
                <a:noFill/>
                <a:tableStyleId>{17E15652-B7AC-42DE-A5C9-21E05EB00EC6}</a:tableStyleId>
              </a:tblPr>
              <a:tblGrid>
                <a:gridCol w="2585175"/>
                <a:gridCol w="2585175"/>
                <a:gridCol w="2746325"/>
                <a:gridCol w="2424025"/>
              </a:tblGrid>
              <a:tr h="383200">
                <a:tc>
                  <a:txBody>
                    <a:bodyPr/>
                    <a:lstStyle/>
                    <a:p>
                      <a:pPr indent="0" lvl="0" marL="0" rtl="0" algn="l">
                        <a:spcBef>
                          <a:spcPts val="0"/>
                        </a:spcBef>
                        <a:spcAft>
                          <a:spcPts val="0"/>
                        </a:spcAft>
                        <a:buNone/>
                      </a:pPr>
                      <a:r>
                        <a:rPr b="1" lang="en-IN" sz="1800"/>
                        <a:t>Model</a:t>
                      </a:r>
                      <a:endParaRPr b="1" sz="1800"/>
                    </a:p>
                  </a:txBody>
                  <a:tcPr marT="91425" marB="91425" marR="91425" marL="91425"/>
                </a:tc>
                <a:tc>
                  <a:txBody>
                    <a:bodyPr/>
                    <a:lstStyle/>
                    <a:p>
                      <a:pPr indent="0" lvl="0" marL="0" rtl="0" algn="l">
                        <a:spcBef>
                          <a:spcPts val="0"/>
                        </a:spcBef>
                        <a:spcAft>
                          <a:spcPts val="0"/>
                        </a:spcAft>
                        <a:buNone/>
                      </a:pPr>
                      <a:r>
                        <a:rPr b="1" lang="en-IN" sz="1800"/>
                        <a:t>Accuracy</a:t>
                      </a:r>
                      <a:endParaRPr b="1" sz="1800"/>
                    </a:p>
                  </a:txBody>
                  <a:tcPr marT="91425" marB="91425" marR="91425" marL="91425"/>
                </a:tc>
                <a:tc>
                  <a:txBody>
                    <a:bodyPr/>
                    <a:lstStyle/>
                    <a:p>
                      <a:pPr indent="0" lvl="0" marL="0" rtl="0" algn="l">
                        <a:spcBef>
                          <a:spcPts val="0"/>
                        </a:spcBef>
                        <a:spcAft>
                          <a:spcPts val="0"/>
                        </a:spcAft>
                        <a:buNone/>
                      </a:pPr>
                      <a:r>
                        <a:rPr b="1" lang="en-IN" sz="1800"/>
                        <a:t>Mean IoU</a:t>
                      </a:r>
                      <a:endParaRPr b="1" sz="1800"/>
                    </a:p>
                  </a:txBody>
                  <a:tcPr marT="91425" marB="91425" marR="91425" marL="91425"/>
                </a:tc>
                <a:tc>
                  <a:txBody>
                    <a:bodyPr/>
                    <a:lstStyle/>
                    <a:p>
                      <a:pPr indent="0" lvl="0" marL="0" rtl="0" algn="l">
                        <a:spcBef>
                          <a:spcPts val="0"/>
                        </a:spcBef>
                        <a:spcAft>
                          <a:spcPts val="0"/>
                        </a:spcAft>
                        <a:buNone/>
                      </a:pPr>
                      <a:r>
                        <a:rPr b="1" lang="en-IN" sz="1800"/>
                        <a:t>Mean Dice</a:t>
                      </a:r>
                      <a:endParaRPr b="1" sz="1800"/>
                    </a:p>
                  </a:txBody>
                  <a:tcPr marT="91425" marB="91425" marR="91425" marL="91425"/>
                </a:tc>
              </a:tr>
              <a:tr h="383200">
                <a:tc>
                  <a:txBody>
                    <a:bodyPr/>
                    <a:lstStyle/>
                    <a:p>
                      <a:pPr indent="0" lvl="0" marL="0" rtl="0" algn="l">
                        <a:spcBef>
                          <a:spcPts val="0"/>
                        </a:spcBef>
                        <a:spcAft>
                          <a:spcPts val="0"/>
                        </a:spcAft>
                        <a:buNone/>
                      </a:pPr>
                      <a:r>
                        <a:rPr lang="en-IN" sz="1800"/>
                        <a:t>U-Net + CE</a:t>
                      </a:r>
                      <a:endParaRPr sz="1800"/>
                    </a:p>
                  </a:txBody>
                  <a:tcPr marT="91425" marB="91425" marR="91425" marL="91425"/>
                </a:tc>
                <a:tc>
                  <a:txBody>
                    <a:bodyPr/>
                    <a:lstStyle/>
                    <a:p>
                      <a:pPr indent="0" lvl="0" marL="0" rtl="0" algn="l">
                        <a:spcBef>
                          <a:spcPts val="0"/>
                        </a:spcBef>
                        <a:spcAft>
                          <a:spcPts val="0"/>
                        </a:spcAft>
                        <a:buNone/>
                      </a:pPr>
                      <a:r>
                        <a:rPr lang="en-IN" sz="1800"/>
                        <a:t>93.07%</a:t>
                      </a:r>
                      <a:endParaRPr sz="1800"/>
                    </a:p>
                  </a:txBody>
                  <a:tcPr marT="91425" marB="91425" marR="91425" marL="91425"/>
                </a:tc>
                <a:tc>
                  <a:txBody>
                    <a:bodyPr/>
                    <a:lstStyle/>
                    <a:p>
                      <a:pPr indent="0" lvl="0" marL="0" rtl="0" algn="l">
                        <a:spcBef>
                          <a:spcPts val="0"/>
                        </a:spcBef>
                        <a:spcAft>
                          <a:spcPts val="0"/>
                        </a:spcAft>
                        <a:buNone/>
                      </a:pPr>
                      <a:r>
                        <a:rPr lang="en-IN" sz="1800"/>
                        <a:t>45.41%</a:t>
                      </a:r>
                      <a:endParaRPr sz="1800"/>
                    </a:p>
                  </a:txBody>
                  <a:tcPr marT="91425" marB="91425" marR="91425" marL="91425"/>
                </a:tc>
                <a:tc>
                  <a:txBody>
                    <a:bodyPr/>
                    <a:lstStyle/>
                    <a:p>
                      <a:pPr indent="0" lvl="0" marL="0" rtl="0" algn="l">
                        <a:spcBef>
                          <a:spcPts val="0"/>
                        </a:spcBef>
                        <a:spcAft>
                          <a:spcPts val="0"/>
                        </a:spcAft>
                        <a:buNone/>
                      </a:pPr>
                      <a:r>
                        <a:rPr lang="en-IN" sz="1800"/>
                        <a:t>55.52%</a:t>
                      </a:r>
                      <a:endParaRPr sz="1800"/>
                    </a:p>
                  </a:txBody>
                  <a:tcPr marT="91425" marB="91425" marR="91425" marL="91425"/>
                </a:tc>
              </a:tr>
              <a:tr h="383200">
                <a:tc>
                  <a:txBody>
                    <a:bodyPr/>
                    <a:lstStyle/>
                    <a:p>
                      <a:pPr indent="0" lvl="0" marL="0" rtl="0" algn="l">
                        <a:spcBef>
                          <a:spcPts val="0"/>
                        </a:spcBef>
                        <a:spcAft>
                          <a:spcPts val="0"/>
                        </a:spcAft>
                        <a:buNone/>
                      </a:pPr>
                      <a:r>
                        <a:rPr lang="en-IN" sz="1800"/>
                        <a:t>U-Net + Dice CE</a:t>
                      </a:r>
                      <a:endParaRPr sz="1800"/>
                    </a:p>
                  </a:txBody>
                  <a:tcPr marT="91425" marB="91425" marR="91425" marL="91425"/>
                </a:tc>
                <a:tc>
                  <a:txBody>
                    <a:bodyPr/>
                    <a:lstStyle/>
                    <a:p>
                      <a:pPr indent="0" lvl="0" marL="0" rtl="0" algn="l">
                        <a:spcBef>
                          <a:spcPts val="0"/>
                        </a:spcBef>
                        <a:spcAft>
                          <a:spcPts val="0"/>
                        </a:spcAft>
                        <a:buNone/>
                      </a:pPr>
                      <a:r>
                        <a:rPr lang="en-IN" sz="1800"/>
                        <a:t>94.15%</a:t>
                      </a:r>
                      <a:endParaRPr sz="1800"/>
                    </a:p>
                  </a:txBody>
                  <a:tcPr marT="91425" marB="91425" marR="91425" marL="91425"/>
                </a:tc>
                <a:tc>
                  <a:txBody>
                    <a:bodyPr/>
                    <a:lstStyle/>
                    <a:p>
                      <a:pPr indent="0" lvl="0" marL="0" rtl="0" algn="l">
                        <a:spcBef>
                          <a:spcPts val="0"/>
                        </a:spcBef>
                        <a:spcAft>
                          <a:spcPts val="0"/>
                        </a:spcAft>
                        <a:buNone/>
                      </a:pPr>
                      <a:r>
                        <a:rPr lang="en-IN" sz="1800"/>
                        <a:t>58.02%</a:t>
                      </a:r>
                      <a:endParaRPr sz="1800"/>
                    </a:p>
                  </a:txBody>
                  <a:tcPr marT="91425" marB="91425" marR="91425" marL="91425"/>
                </a:tc>
                <a:tc>
                  <a:txBody>
                    <a:bodyPr/>
                    <a:lstStyle/>
                    <a:p>
                      <a:pPr indent="0" lvl="0" marL="0" rtl="0" algn="l">
                        <a:spcBef>
                          <a:spcPts val="0"/>
                        </a:spcBef>
                        <a:spcAft>
                          <a:spcPts val="0"/>
                        </a:spcAft>
                        <a:buNone/>
                      </a:pPr>
                      <a:r>
                        <a:rPr lang="en-IN" sz="1800"/>
                        <a:t>70.22%</a:t>
                      </a:r>
                      <a:endParaRPr sz="1800"/>
                    </a:p>
                  </a:txBody>
                  <a:tcPr marT="91425" marB="91425" marR="91425" marL="91425"/>
                </a:tc>
              </a:tr>
              <a:tr h="613150">
                <a:tc>
                  <a:txBody>
                    <a:bodyPr/>
                    <a:lstStyle/>
                    <a:p>
                      <a:pPr indent="0" lvl="0" marL="0" rtl="0" algn="l">
                        <a:spcBef>
                          <a:spcPts val="0"/>
                        </a:spcBef>
                        <a:spcAft>
                          <a:spcPts val="0"/>
                        </a:spcAft>
                        <a:buNone/>
                      </a:pPr>
                      <a:r>
                        <a:rPr lang="en-IN" sz="1800"/>
                        <a:t>Attention U-Net + Dice CE</a:t>
                      </a:r>
                      <a:endParaRPr sz="1800"/>
                    </a:p>
                  </a:txBody>
                  <a:tcPr marT="91425" marB="91425" marR="91425" marL="91425"/>
                </a:tc>
                <a:tc>
                  <a:txBody>
                    <a:bodyPr/>
                    <a:lstStyle/>
                    <a:p>
                      <a:pPr indent="0" lvl="0" marL="0" rtl="0" algn="l">
                        <a:spcBef>
                          <a:spcPts val="0"/>
                        </a:spcBef>
                        <a:spcAft>
                          <a:spcPts val="0"/>
                        </a:spcAft>
                        <a:buNone/>
                      </a:pPr>
                      <a:r>
                        <a:rPr lang="en-IN" sz="1800"/>
                        <a:t>92.79%</a:t>
                      </a:r>
                      <a:endParaRPr sz="1800"/>
                    </a:p>
                  </a:txBody>
                  <a:tcPr marT="91425" marB="91425" marR="91425" marL="91425"/>
                </a:tc>
                <a:tc>
                  <a:txBody>
                    <a:bodyPr/>
                    <a:lstStyle/>
                    <a:p>
                      <a:pPr indent="0" lvl="0" marL="0" rtl="0" algn="l">
                        <a:spcBef>
                          <a:spcPts val="0"/>
                        </a:spcBef>
                        <a:spcAft>
                          <a:spcPts val="0"/>
                        </a:spcAft>
                        <a:buNone/>
                      </a:pPr>
                      <a:r>
                        <a:rPr lang="en-IN" sz="1800"/>
                        <a:t>52.53%</a:t>
                      </a:r>
                      <a:endParaRPr sz="1800"/>
                    </a:p>
                  </a:txBody>
                  <a:tcPr marT="91425" marB="91425" marR="91425" marL="91425"/>
                </a:tc>
                <a:tc>
                  <a:txBody>
                    <a:bodyPr/>
                    <a:lstStyle/>
                    <a:p>
                      <a:pPr indent="0" lvl="0" marL="0" rtl="0" algn="l">
                        <a:spcBef>
                          <a:spcPts val="0"/>
                        </a:spcBef>
                        <a:spcAft>
                          <a:spcPts val="0"/>
                        </a:spcAft>
                        <a:buNone/>
                      </a:pPr>
                      <a:r>
                        <a:rPr lang="en-IN" sz="1800"/>
                        <a:t>64.74%</a:t>
                      </a:r>
                      <a:endParaRPr sz="1800"/>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fb352be4e5_0_88"/>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Results And Current Status</a:t>
            </a:r>
            <a:endParaRPr>
              <a:solidFill>
                <a:schemeClr val="dk2"/>
              </a:solidFill>
            </a:endParaRPr>
          </a:p>
        </p:txBody>
      </p:sp>
      <p:sp>
        <p:nvSpPr>
          <p:cNvPr id="350" name="Google Shape;350;g3fb352be4e5_0_8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0" lvl="0" marL="0" rtl="0" algn="l">
              <a:lnSpc>
                <a:spcPct val="115000"/>
              </a:lnSpc>
              <a:spcBef>
                <a:spcPts val="1400"/>
              </a:spcBef>
              <a:spcAft>
                <a:spcPts val="0"/>
              </a:spcAft>
              <a:buClr>
                <a:schemeClr val="dk2"/>
              </a:buClr>
              <a:buSzPts val="1100"/>
              <a:buFont typeface="Arial"/>
              <a:buNone/>
            </a:pPr>
            <a:r>
              <a:rPr b="1" lang="en-IN" sz="1800">
                <a:solidFill>
                  <a:schemeClr val="dk2"/>
                </a:solidFill>
              </a:rPr>
              <a:t>Best Model Performance</a:t>
            </a:r>
            <a:endParaRPr b="1" sz="1800">
              <a:solidFill>
                <a:schemeClr val="dk2"/>
              </a:solidFill>
            </a:endParaRPr>
          </a:p>
          <a:p>
            <a:pPr indent="-342900" lvl="0" marL="457200" rtl="0" algn="l">
              <a:lnSpc>
                <a:spcPct val="115000"/>
              </a:lnSpc>
              <a:spcBef>
                <a:spcPts val="1200"/>
              </a:spcBef>
              <a:spcAft>
                <a:spcPts val="0"/>
              </a:spcAft>
              <a:buClr>
                <a:schemeClr val="dk2"/>
              </a:buClr>
              <a:buSzPts val="1800"/>
              <a:buFont typeface="Arial"/>
              <a:buChar char="●"/>
            </a:pPr>
            <a:r>
              <a:rPr b="1" lang="en-IN" sz="1800">
                <a:solidFill>
                  <a:schemeClr val="dk2"/>
                </a:solidFill>
              </a:rPr>
              <a:t>Accuracy:</a:t>
            </a:r>
            <a:r>
              <a:rPr lang="en-IN" sz="1800">
                <a:solidFill>
                  <a:schemeClr val="dk2"/>
                </a:solidFill>
              </a:rPr>
              <a:t> 94.15%</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b="1" lang="en-IN" sz="1800">
                <a:solidFill>
                  <a:schemeClr val="dk2"/>
                </a:solidFill>
              </a:rPr>
              <a:t>Mean IoU:</a:t>
            </a:r>
            <a:r>
              <a:rPr lang="en-IN" sz="1800">
                <a:solidFill>
                  <a:schemeClr val="dk2"/>
                </a:solidFill>
              </a:rPr>
              <a:t> 58.02%</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Char char="●"/>
            </a:pPr>
            <a:r>
              <a:rPr b="1" lang="en-IN" sz="1800">
                <a:solidFill>
                  <a:schemeClr val="dk2"/>
                </a:solidFill>
              </a:rPr>
              <a:t>Mean Dice:</a:t>
            </a:r>
            <a:r>
              <a:rPr lang="en-IN" sz="1800">
                <a:solidFill>
                  <a:schemeClr val="dk2"/>
                </a:solidFill>
              </a:rPr>
              <a:t> 70.22%</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p:txBody>
      </p:sp>
      <p:sp>
        <p:nvSpPr>
          <p:cNvPr id="351" name="Google Shape;351;g3fb352be4e5_0_88"/>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graphicFrame>
        <p:nvGraphicFramePr>
          <p:cNvPr id="352" name="Google Shape;352;g3fb352be4e5_0_88"/>
          <p:cNvGraphicFramePr/>
          <p:nvPr/>
        </p:nvGraphicFramePr>
        <p:xfrm>
          <a:off x="5643125" y="1600200"/>
          <a:ext cx="3000000" cy="3000000"/>
        </p:xfrm>
        <a:graphic>
          <a:graphicData uri="http://schemas.openxmlformats.org/drawingml/2006/table">
            <a:tbl>
              <a:tblPr>
                <a:noFill/>
                <a:tableStyleId>{17E15652-B7AC-42DE-A5C9-21E05EB00EC6}</a:tableStyleId>
              </a:tblPr>
              <a:tblGrid>
                <a:gridCol w="1590650"/>
                <a:gridCol w="1590650"/>
                <a:gridCol w="1590650"/>
              </a:tblGrid>
              <a:tr h="100000">
                <a:tc>
                  <a:txBody>
                    <a:bodyPr/>
                    <a:lstStyle/>
                    <a:p>
                      <a:pPr indent="0" lvl="0" marL="0" rtl="0" algn="l">
                        <a:spcBef>
                          <a:spcPts val="0"/>
                        </a:spcBef>
                        <a:spcAft>
                          <a:spcPts val="0"/>
                        </a:spcAft>
                        <a:buNone/>
                      </a:pPr>
                      <a:r>
                        <a:rPr b="1" lang="en-IN" sz="1800"/>
                        <a:t>Class</a:t>
                      </a:r>
                      <a:endParaRPr b="1" sz="1800"/>
                    </a:p>
                  </a:txBody>
                  <a:tcPr marT="91425" marB="91425" marR="91425" marL="91425"/>
                </a:tc>
                <a:tc>
                  <a:txBody>
                    <a:bodyPr/>
                    <a:lstStyle/>
                    <a:p>
                      <a:pPr indent="0" lvl="0" marL="0" rtl="0" algn="l">
                        <a:spcBef>
                          <a:spcPts val="0"/>
                        </a:spcBef>
                        <a:spcAft>
                          <a:spcPts val="0"/>
                        </a:spcAft>
                        <a:buNone/>
                      </a:pPr>
                      <a:r>
                        <a:rPr b="1" lang="en-IN" sz="1800"/>
                        <a:t>IoU</a:t>
                      </a:r>
                      <a:endParaRPr b="1" sz="1800"/>
                    </a:p>
                  </a:txBody>
                  <a:tcPr marT="91425" marB="91425" marR="91425" marL="91425"/>
                </a:tc>
                <a:tc>
                  <a:txBody>
                    <a:bodyPr/>
                    <a:lstStyle/>
                    <a:p>
                      <a:pPr indent="0" lvl="0" marL="0" rtl="0" algn="l">
                        <a:spcBef>
                          <a:spcPts val="0"/>
                        </a:spcBef>
                        <a:spcAft>
                          <a:spcPts val="0"/>
                        </a:spcAft>
                        <a:buNone/>
                      </a:pPr>
                      <a:r>
                        <a:rPr b="1" lang="en-IN" sz="1800"/>
                        <a:t>Dice</a:t>
                      </a:r>
                      <a:endParaRPr b="1" sz="1800"/>
                    </a:p>
                  </a:txBody>
                  <a:tcPr marT="91425" marB="91425" marR="91425" marL="91425"/>
                </a:tc>
              </a:tr>
              <a:tr h="381000">
                <a:tc>
                  <a:txBody>
                    <a:bodyPr/>
                    <a:lstStyle/>
                    <a:p>
                      <a:pPr indent="0" lvl="0" marL="0" rtl="0" algn="l">
                        <a:spcBef>
                          <a:spcPts val="0"/>
                        </a:spcBef>
                        <a:spcAft>
                          <a:spcPts val="0"/>
                        </a:spcAft>
                        <a:buNone/>
                      </a:pPr>
                      <a:r>
                        <a:rPr lang="en-IN" sz="1800"/>
                        <a:t>Class 0</a:t>
                      </a:r>
                      <a:endParaRPr sz="1800"/>
                    </a:p>
                  </a:txBody>
                  <a:tcPr marT="91425" marB="91425" marR="91425" marL="91425"/>
                </a:tc>
                <a:tc>
                  <a:txBody>
                    <a:bodyPr/>
                    <a:lstStyle/>
                    <a:p>
                      <a:pPr indent="0" lvl="0" marL="0" rtl="0" algn="l">
                        <a:spcBef>
                          <a:spcPts val="0"/>
                        </a:spcBef>
                        <a:spcAft>
                          <a:spcPts val="0"/>
                        </a:spcAft>
                        <a:buNone/>
                      </a:pPr>
                      <a:r>
                        <a:rPr lang="en-IN" sz="1800"/>
                        <a:t>33.50%</a:t>
                      </a:r>
                      <a:endParaRPr sz="1800"/>
                    </a:p>
                  </a:txBody>
                  <a:tcPr marT="91425" marB="91425" marR="91425" marL="91425"/>
                </a:tc>
                <a:tc>
                  <a:txBody>
                    <a:bodyPr/>
                    <a:lstStyle/>
                    <a:p>
                      <a:pPr indent="0" lvl="0" marL="0" rtl="0" algn="l">
                        <a:spcBef>
                          <a:spcPts val="0"/>
                        </a:spcBef>
                        <a:spcAft>
                          <a:spcPts val="0"/>
                        </a:spcAft>
                        <a:buNone/>
                      </a:pPr>
                      <a:r>
                        <a:rPr lang="en-IN" sz="1800"/>
                        <a:t>50.19%</a:t>
                      </a:r>
                      <a:endParaRPr sz="1800"/>
                    </a:p>
                  </a:txBody>
                  <a:tcPr marT="91425" marB="91425" marR="91425" marL="91425"/>
                </a:tc>
              </a:tr>
              <a:tr h="381000">
                <a:tc>
                  <a:txBody>
                    <a:bodyPr/>
                    <a:lstStyle/>
                    <a:p>
                      <a:pPr indent="0" lvl="0" marL="0" rtl="0" algn="l">
                        <a:spcBef>
                          <a:spcPts val="0"/>
                        </a:spcBef>
                        <a:spcAft>
                          <a:spcPts val="0"/>
                        </a:spcAft>
                        <a:buNone/>
                      </a:pPr>
                      <a:r>
                        <a:rPr lang="en-IN" sz="1800"/>
                        <a:t>Class 1</a:t>
                      </a:r>
                      <a:endParaRPr sz="1800"/>
                    </a:p>
                  </a:txBody>
                  <a:tcPr marT="91425" marB="91425" marR="91425" marL="91425"/>
                </a:tc>
                <a:tc>
                  <a:txBody>
                    <a:bodyPr/>
                    <a:lstStyle/>
                    <a:p>
                      <a:pPr indent="0" lvl="0" marL="0" rtl="0" algn="l">
                        <a:spcBef>
                          <a:spcPts val="0"/>
                        </a:spcBef>
                        <a:spcAft>
                          <a:spcPts val="0"/>
                        </a:spcAft>
                        <a:buNone/>
                      </a:pPr>
                      <a:r>
                        <a:rPr lang="en-IN" sz="1800"/>
                        <a:t>93.93%</a:t>
                      </a:r>
                      <a:endParaRPr sz="1800"/>
                    </a:p>
                  </a:txBody>
                  <a:tcPr marT="91425" marB="91425" marR="91425" marL="91425"/>
                </a:tc>
                <a:tc>
                  <a:txBody>
                    <a:bodyPr/>
                    <a:lstStyle/>
                    <a:p>
                      <a:pPr indent="0" lvl="0" marL="0" rtl="0" algn="l">
                        <a:spcBef>
                          <a:spcPts val="0"/>
                        </a:spcBef>
                        <a:spcAft>
                          <a:spcPts val="0"/>
                        </a:spcAft>
                        <a:buNone/>
                      </a:pPr>
                      <a:r>
                        <a:rPr lang="en-IN" sz="1800"/>
                        <a:t>96.87%</a:t>
                      </a:r>
                      <a:endParaRPr sz="1800"/>
                    </a:p>
                  </a:txBody>
                  <a:tcPr marT="91425" marB="91425" marR="91425" marL="91425"/>
                </a:tc>
              </a:tr>
              <a:tr h="381000">
                <a:tc>
                  <a:txBody>
                    <a:bodyPr/>
                    <a:lstStyle/>
                    <a:p>
                      <a:pPr indent="0" lvl="0" marL="0" rtl="0" algn="l">
                        <a:spcBef>
                          <a:spcPts val="0"/>
                        </a:spcBef>
                        <a:spcAft>
                          <a:spcPts val="0"/>
                        </a:spcAft>
                        <a:buNone/>
                      </a:pPr>
                      <a:r>
                        <a:rPr lang="en-IN" sz="1800"/>
                        <a:t>Class 2</a:t>
                      </a:r>
                      <a:endParaRPr sz="1800"/>
                    </a:p>
                  </a:txBody>
                  <a:tcPr marT="91425" marB="91425" marR="91425" marL="91425"/>
                </a:tc>
                <a:tc>
                  <a:txBody>
                    <a:bodyPr/>
                    <a:lstStyle/>
                    <a:p>
                      <a:pPr indent="0" lvl="0" marL="0" rtl="0" algn="l">
                        <a:spcBef>
                          <a:spcPts val="0"/>
                        </a:spcBef>
                        <a:spcAft>
                          <a:spcPts val="0"/>
                        </a:spcAft>
                        <a:buNone/>
                      </a:pPr>
                      <a:r>
                        <a:rPr lang="en-IN" sz="1800"/>
                        <a:t>46.63%</a:t>
                      </a:r>
                      <a:endParaRPr sz="1800"/>
                    </a:p>
                  </a:txBody>
                  <a:tcPr marT="91425" marB="91425" marR="91425" marL="91425"/>
                </a:tc>
                <a:tc>
                  <a:txBody>
                    <a:bodyPr/>
                    <a:lstStyle/>
                    <a:p>
                      <a:pPr indent="0" lvl="0" marL="0" rtl="0" algn="l">
                        <a:spcBef>
                          <a:spcPts val="0"/>
                        </a:spcBef>
                        <a:spcAft>
                          <a:spcPts val="0"/>
                        </a:spcAft>
                        <a:buNone/>
                      </a:pPr>
                      <a:r>
                        <a:rPr lang="en-IN" sz="1800"/>
                        <a:t>63.60%</a:t>
                      </a:r>
                      <a:endParaRPr sz="1800"/>
                    </a:p>
                  </a:txBody>
                  <a:tcPr marT="91425" marB="91425" marR="91425" marL="91425"/>
                </a:tc>
              </a:tr>
            </a:tbl>
          </a:graphicData>
        </a:graphic>
      </p:graphicFrame>
      <p:pic>
        <p:nvPicPr>
          <p:cNvPr id="353" name="Google Shape;353;g3fb352be4e5_0_88" title="result.png"/>
          <p:cNvPicPr preferRelativeResize="0"/>
          <p:nvPr/>
        </p:nvPicPr>
        <p:blipFill>
          <a:blip r:embed="rId3">
            <a:alphaModFix/>
          </a:blip>
          <a:stretch>
            <a:fillRect/>
          </a:stretch>
        </p:blipFill>
        <p:spPr>
          <a:xfrm>
            <a:off x="1826425" y="3686478"/>
            <a:ext cx="8115939" cy="2804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fb352be4e5_0_141"/>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Result And Current Status</a:t>
            </a:r>
            <a:endParaRPr>
              <a:solidFill>
                <a:schemeClr val="dk2"/>
              </a:solidFill>
            </a:endParaRPr>
          </a:p>
        </p:txBody>
      </p:sp>
      <p:sp>
        <p:nvSpPr>
          <p:cNvPr id="360" name="Google Shape;360;g3fb352be4e5_0_141"/>
          <p:cNvSpPr txBox="1"/>
          <p:nvPr>
            <p:ph idx="1" type="body"/>
          </p:nvPr>
        </p:nvSpPr>
        <p:spPr>
          <a:xfrm>
            <a:off x="1104150" y="1525450"/>
            <a:ext cx="9982200" cy="4830900"/>
          </a:xfrm>
          <a:prstGeom prst="rect">
            <a:avLst/>
          </a:prstGeom>
          <a:noFill/>
          <a:ln>
            <a:noFill/>
          </a:ln>
        </p:spPr>
        <p:txBody>
          <a:bodyPr anchorCtr="0" anchor="t" bIns="45700" lIns="0" spcFirstLastPara="1" rIns="0" wrap="square" tIns="45700">
            <a:normAutofit/>
          </a:bodyPr>
          <a:lstStyle/>
          <a:p>
            <a:pPr indent="0" lvl="0" marL="45720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just">
              <a:lnSpc>
                <a:spcPct val="90000"/>
              </a:lnSpc>
              <a:spcBef>
                <a:spcPts val="1800"/>
              </a:spcBef>
              <a:spcAft>
                <a:spcPts val="0"/>
              </a:spcAft>
              <a:buSzPts val="1800"/>
              <a:buNone/>
            </a:pPr>
            <a:r>
              <a:t/>
            </a:r>
            <a:endParaRPr sz="1800">
              <a:solidFill>
                <a:schemeClr val="dk2"/>
              </a:solidFill>
            </a:endParaRPr>
          </a:p>
        </p:txBody>
      </p:sp>
      <p:sp>
        <p:nvSpPr>
          <p:cNvPr id="361" name="Google Shape;361;g3fb352be4e5_0_141"/>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pic>
        <p:nvPicPr>
          <p:cNvPr id="362" name="Google Shape;362;g3fb352be4e5_0_141" title="Screenshot 2026-09-12 115210.png"/>
          <p:cNvPicPr preferRelativeResize="0"/>
          <p:nvPr/>
        </p:nvPicPr>
        <p:blipFill>
          <a:blip r:embed="rId3">
            <a:alphaModFix/>
          </a:blip>
          <a:stretch>
            <a:fillRect/>
          </a:stretch>
        </p:blipFill>
        <p:spPr>
          <a:xfrm>
            <a:off x="1228575" y="1315150"/>
            <a:ext cx="9857001" cy="55428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c53bd41426_0_112"/>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Conclusion</a:t>
            </a:r>
            <a:endParaRPr>
              <a:solidFill>
                <a:schemeClr val="dk2"/>
              </a:solidFill>
            </a:endParaRPr>
          </a:p>
        </p:txBody>
      </p:sp>
      <p:sp>
        <p:nvSpPr>
          <p:cNvPr id="369" name="Google Shape;369;g3c53bd41426_0_112"/>
          <p:cNvSpPr txBox="1"/>
          <p:nvPr>
            <p:ph idx="1" type="body"/>
          </p:nvPr>
        </p:nvSpPr>
        <p:spPr>
          <a:xfrm>
            <a:off x="1104900" y="1877400"/>
            <a:ext cx="9982200" cy="4294800"/>
          </a:xfrm>
          <a:prstGeom prst="rect">
            <a:avLst/>
          </a:prstGeom>
          <a:noFill/>
          <a:ln>
            <a:noFill/>
          </a:ln>
        </p:spPr>
        <p:txBody>
          <a:bodyPr anchorCtr="0" anchor="t" bIns="45700" lIns="0" spcFirstLastPara="1" rIns="0" wrap="square" tIns="45700">
            <a:normAutofit/>
          </a:bodyPr>
          <a:lstStyle/>
          <a:p>
            <a:pPr indent="0" lvl="0" marL="0" rtl="0" algn="just">
              <a:lnSpc>
                <a:spcPct val="90000"/>
              </a:lnSpc>
              <a:spcBef>
                <a:spcPts val="1800"/>
              </a:spcBef>
              <a:spcAft>
                <a:spcPts val="0"/>
              </a:spcAft>
              <a:buSzPts val="1800"/>
              <a:buNone/>
            </a:pPr>
            <a:r>
              <a:rPr lang="en-IN" sz="1800">
                <a:solidFill>
                  <a:schemeClr val="dk2"/>
                </a:solidFill>
              </a:rPr>
              <a:t>This project aims to develop an AI-based approach for terrain suitability mapping using satellite imagery, DEM, and terrain factors. By applying a Convolutional Neural Network (CNN), it is expected to classify land into highly suitable and Not-Suitable areas. The resulting suitability maps will help planners and authorities make informed decisions for sustainable eco-tourism while promoting environmental conservation.</a:t>
            </a:r>
            <a:endParaRPr sz="1800">
              <a:solidFill>
                <a:schemeClr val="dk2"/>
              </a:solidFill>
            </a:endParaRPr>
          </a:p>
        </p:txBody>
      </p:sp>
      <p:sp>
        <p:nvSpPr>
          <p:cNvPr id="370" name="Google Shape;370;g3c53bd41426_0_112"/>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cf0bf8440b_0_113"/>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1800"/>
              <a:buFont typeface="Arial"/>
              <a:buNone/>
            </a:pPr>
            <a:r>
              <a:rPr lang="en-IN">
                <a:solidFill>
                  <a:schemeClr val="dk2"/>
                </a:solidFill>
              </a:rPr>
              <a:t>References</a:t>
            </a:r>
            <a:endParaRPr>
              <a:solidFill>
                <a:schemeClr val="dk2"/>
              </a:solidFill>
            </a:endParaRPr>
          </a:p>
        </p:txBody>
      </p:sp>
      <p:sp>
        <p:nvSpPr>
          <p:cNvPr id="377" name="Google Shape;377;g3cf0bf8440b_0_11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Autofit/>
          </a:bodyPr>
          <a:lstStyle/>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[1] </a:t>
            </a:r>
            <a:r>
              <a:rPr lang="en-IN" sz="1800">
                <a:solidFill>
                  <a:schemeClr val="dk2"/>
                </a:solidFill>
              </a:rPr>
              <a:t>J. Wang and Z. Zhang, "Developing an Ecological Zoning Framework for Post-Pandemic Coastal Tourism Recovery: Evidence from 5-Year Remote Sensing and Tourism Data (2019–2024)," 2026.</a:t>
            </a:r>
            <a:endParaRPr sz="1800">
              <a:solidFill>
                <a:schemeClr val="dk2"/>
              </a:solidFill>
              <a:latin typeface="Arial"/>
              <a:ea typeface="Arial"/>
              <a:cs typeface="Arial"/>
              <a:sym typeface="Arial"/>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[2] </a:t>
            </a:r>
            <a:r>
              <a:rPr lang="en-IN" sz="1800">
                <a:solidFill>
                  <a:schemeClr val="dk2"/>
                </a:solidFill>
              </a:rPr>
              <a:t>G. Uday and B. V. Purse, "Radar versus Optical: The Impact of Cloud Cover When Mapping Seasonal Surface Water for Health Applications in Monsoon-Affected India," 2025.</a:t>
            </a:r>
            <a:endParaRPr sz="1800">
              <a:solidFill>
                <a:schemeClr val="dk2"/>
              </a:solidFill>
              <a:latin typeface="Arial"/>
              <a:ea typeface="Arial"/>
              <a:cs typeface="Arial"/>
              <a:sym typeface="Arial"/>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[3] </a:t>
            </a:r>
            <a:r>
              <a:rPr lang="en-IN" sz="1800">
                <a:solidFill>
                  <a:schemeClr val="dk2"/>
                </a:solidFill>
              </a:rPr>
              <a:t>A. Nowakowski and M. P. Del Rosso, "Transfer Learning in Earth Observation Data Analysis: A Review," 2025.</a:t>
            </a:r>
            <a:endParaRPr sz="1800">
              <a:solidFill>
                <a:schemeClr val="dk2"/>
              </a:solidFill>
              <a:latin typeface="Arial"/>
              <a:ea typeface="Arial"/>
              <a:cs typeface="Arial"/>
              <a:sym typeface="Arial"/>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[4] </a:t>
            </a:r>
            <a:r>
              <a:rPr lang="en-IN" sz="1800">
                <a:solidFill>
                  <a:schemeClr val="dk2"/>
                </a:solidFill>
              </a:rPr>
              <a:t>L. Ma and Y. Liu, "A Comprehensive Review of Remote Sensing and Artificial Intelligence Integration: Advances, Applications, and Challenges," 2023.</a:t>
            </a:r>
            <a:endParaRPr/>
          </a:p>
          <a:p>
            <a:pPr indent="0" lvl="0" marL="0" rtl="0" algn="just">
              <a:lnSpc>
                <a:spcPct val="115000"/>
              </a:lnSpc>
              <a:spcBef>
                <a:spcPts val="1200"/>
              </a:spcBef>
              <a:spcAft>
                <a:spcPts val="0"/>
              </a:spcAft>
              <a:buClr>
                <a:schemeClr val="dk2"/>
              </a:buClr>
              <a:buSzPts val="1100"/>
              <a:buNone/>
            </a:pPr>
            <a:r>
              <a:rPr lang="en-IN" sz="1800">
                <a:solidFill>
                  <a:schemeClr val="dk2"/>
                </a:solidFill>
              </a:rPr>
              <a:t>[5]J.-F. Pekel, A. Cottam, N. Gorelick, and A. S. Belward, "High-Resolution Mapping of Global Surface Water and Its Long-Term Changes," Nature, vol. 540, no. 7633, pp. 418–422, Dec. 2016</a:t>
            </a:r>
            <a:endParaRPr sz="1800">
              <a:solidFill>
                <a:schemeClr val="dk2"/>
              </a:solidFill>
              <a:latin typeface="Arial"/>
              <a:ea typeface="Arial"/>
              <a:cs typeface="Arial"/>
              <a:sym typeface="Arial"/>
            </a:endParaRPr>
          </a:p>
        </p:txBody>
      </p:sp>
      <p:sp>
        <p:nvSpPr>
          <p:cNvPr id="378" name="Google Shape;378;g3cf0bf8440b_0_113"/>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c53bd41426_0_139"/>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 References</a:t>
            </a:r>
            <a:endParaRPr>
              <a:solidFill>
                <a:schemeClr val="dk2"/>
              </a:solidFill>
            </a:endParaRPr>
          </a:p>
        </p:txBody>
      </p:sp>
      <p:sp>
        <p:nvSpPr>
          <p:cNvPr id="385" name="Google Shape;385;g3c53bd41426_0_139"/>
          <p:cNvSpPr txBox="1"/>
          <p:nvPr>
            <p:ph idx="1" type="body"/>
          </p:nvPr>
        </p:nvSpPr>
        <p:spPr>
          <a:xfrm>
            <a:off x="1104900" y="1600200"/>
            <a:ext cx="10669200" cy="4373100"/>
          </a:xfrm>
          <a:prstGeom prst="rect">
            <a:avLst/>
          </a:prstGeom>
          <a:noFill/>
          <a:ln>
            <a:noFill/>
          </a:ln>
        </p:spPr>
        <p:txBody>
          <a:bodyPr anchorCtr="0" anchor="t" bIns="45700" lIns="0" spcFirstLastPara="1" rIns="0" wrap="square" tIns="45700">
            <a:noAutofit/>
          </a:bodyPr>
          <a:lstStyle/>
          <a:p>
            <a:pPr indent="0" lvl="0" marL="0" rtl="0" algn="just">
              <a:lnSpc>
                <a:spcPct val="80000"/>
              </a:lnSpc>
              <a:spcBef>
                <a:spcPts val="0"/>
              </a:spcBef>
              <a:spcAft>
                <a:spcPts val="0"/>
              </a:spcAft>
              <a:buClr>
                <a:schemeClr val="dk2"/>
              </a:buClr>
              <a:buSzPts val="1800"/>
              <a:buNone/>
            </a:pPr>
            <a:r>
              <a:rPr lang="en-IN" sz="1800">
                <a:solidFill>
                  <a:schemeClr val="dk2"/>
                </a:solidFill>
                <a:latin typeface="Arial"/>
                <a:ea typeface="Arial"/>
                <a:cs typeface="Arial"/>
                <a:sym typeface="Arial"/>
              </a:rPr>
              <a:t>[1] A. Madani, “Digital Elevation Model Estimation from RGB Satellite Imagery Using Generative Deep Learning,” </a:t>
            </a:r>
            <a:r>
              <a:rPr i="1" lang="en-IN" sz="1800">
                <a:solidFill>
                  <a:schemeClr val="dk2"/>
                </a:solidFill>
                <a:latin typeface="Arial"/>
                <a:ea typeface="Arial"/>
                <a:cs typeface="Arial"/>
                <a:sym typeface="Arial"/>
              </a:rPr>
              <a:t>IEEE Access</a:t>
            </a:r>
            <a:r>
              <a:rPr lang="en-IN" sz="1800">
                <a:solidFill>
                  <a:schemeClr val="dk2"/>
                </a:solidFill>
                <a:latin typeface="Arial"/>
                <a:ea typeface="Arial"/>
                <a:cs typeface="Arial"/>
                <a:sym typeface="Arial"/>
              </a:rPr>
              <a:t>, 2025</a:t>
            </a:r>
            <a:endParaRPr/>
          </a:p>
          <a:p>
            <a:pPr indent="0" lvl="0" marL="0" rtl="0" algn="just">
              <a:lnSpc>
                <a:spcPct val="80000"/>
              </a:lnSpc>
              <a:spcBef>
                <a:spcPts val="0"/>
              </a:spcBef>
              <a:spcAft>
                <a:spcPts val="0"/>
              </a:spcAft>
              <a:buClr>
                <a:schemeClr val="dk2"/>
              </a:buClr>
              <a:buSzPts val="1800"/>
              <a:buNone/>
            </a:pPr>
            <a:r>
              <a:t/>
            </a:r>
            <a:endParaRPr sz="1800">
              <a:solidFill>
                <a:schemeClr val="dk2"/>
              </a:solidFill>
              <a:latin typeface="Arial"/>
              <a:ea typeface="Arial"/>
              <a:cs typeface="Arial"/>
              <a:sym typeface="Arial"/>
            </a:endParaRPr>
          </a:p>
          <a:p>
            <a:pPr indent="0" lvl="0" marL="0" rtl="0" algn="just">
              <a:lnSpc>
                <a:spcPct val="80000"/>
              </a:lnSpc>
              <a:spcBef>
                <a:spcPts val="0"/>
              </a:spcBef>
              <a:spcAft>
                <a:spcPts val="0"/>
              </a:spcAft>
              <a:buClr>
                <a:schemeClr val="dk2"/>
              </a:buClr>
              <a:buSzPts val="1800"/>
              <a:buNone/>
            </a:pPr>
            <a:r>
              <a:rPr lang="en-IN" sz="1800">
                <a:solidFill>
                  <a:schemeClr val="dk2"/>
                </a:solidFill>
                <a:latin typeface="Arial"/>
                <a:ea typeface="Arial"/>
                <a:cs typeface="Arial"/>
                <a:sym typeface="Arial"/>
              </a:rPr>
              <a:t>[2] V. Nandam, P. L. Patel, “A Framework to Assess Suitability of Global Digital Elevation Models for Hydrodynamic Modelling in Data-Scarce Regions,” </a:t>
            </a:r>
            <a:r>
              <a:rPr i="1" lang="en-IN" sz="1800">
                <a:solidFill>
                  <a:schemeClr val="dk2"/>
                </a:solidFill>
                <a:latin typeface="Arial"/>
                <a:ea typeface="Arial"/>
                <a:cs typeface="Arial"/>
                <a:sym typeface="Arial"/>
              </a:rPr>
              <a:t>Journal of Hydrology</a:t>
            </a:r>
            <a:r>
              <a:rPr lang="en-IN" sz="1800">
                <a:solidFill>
                  <a:schemeClr val="dk2"/>
                </a:solidFill>
                <a:latin typeface="Arial"/>
                <a:ea typeface="Arial"/>
                <a:cs typeface="Arial"/>
                <a:sym typeface="Arial"/>
              </a:rPr>
              <a:t>, Elsevier, 2024</a:t>
            </a:r>
            <a:endParaRPr/>
          </a:p>
          <a:p>
            <a:pPr indent="0" lvl="0" marL="0" rtl="0" algn="just">
              <a:lnSpc>
                <a:spcPct val="80000"/>
              </a:lnSpc>
              <a:spcBef>
                <a:spcPts val="0"/>
              </a:spcBef>
              <a:spcAft>
                <a:spcPts val="0"/>
              </a:spcAft>
              <a:buClr>
                <a:schemeClr val="dk2"/>
              </a:buClr>
              <a:buSzPts val="1800"/>
              <a:buNone/>
            </a:pPr>
            <a:r>
              <a:t/>
            </a:r>
            <a:endParaRPr sz="1800">
              <a:solidFill>
                <a:schemeClr val="dk2"/>
              </a:solidFill>
              <a:latin typeface="Arial"/>
              <a:ea typeface="Arial"/>
              <a:cs typeface="Arial"/>
              <a:sym typeface="Arial"/>
            </a:endParaRPr>
          </a:p>
          <a:p>
            <a:pPr indent="0" lvl="0" marL="0" rtl="0" algn="just">
              <a:lnSpc>
                <a:spcPct val="80000"/>
              </a:lnSpc>
              <a:spcBef>
                <a:spcPts val="0"/>
              </a:spcBef>
              <a:spcAft>
                <a:spcPts val="0"/>
              </a:spcAft>
              <a:buClr>
                <a:schemeClr val="dk2"/>
              </a:buClr>
              <a:buSzPts val="1800"/>
              <a:buNone/>
            </a:pPr>
            <a:r>
              <a:rPr lang="en-IN" sz="1800">
                <a:solidFill>
                  <a:schemeClr val="dk2"/>
                </a:solidFill>
                <a:latin typeface="Arial"/>
                <a:ea typeface="Arial"/>
                <a:cs typeface="Arial"/>
                <a:sym typeface="Arial"/>
              </a:rPr>
              <a:t>[3] S. T. C. Wirawan, H. P. Chernovita, “Analysis of Vegetation Changes Using Satellite Imagery and NDVI,” </a:t>
            </a:r>
            <a:r>
              <a:rPr i="1" lang="en-IN" sz="1800">
                <a:solidFill>
                  <a:schemeClr val="dk2"/>
                </a:solidFill>
                <a:latin typeface="Arial"/>
                <a:ea typeface="Arial"/>
                <a:cs typeface="Arial"/>
                <a:sym typeface="Arial"/>
              </a:rPr>
              <a:t>Journal of Information Systems and Informatics</a:t>
            </a:r>
            <a:r>
              <a:rPr lang="en-IN" sz="1800">
                <a:solidFill>
                  <a:schemeClr val="dk2"/>
                </a:solidFill>
                <a:latin typeface="Arial"/>
                <a:ea typeface="Arial"/>
                <a:cs typeface="Arial"/>
                <a:sym typeface="Arial"/>
              </a:rPr>
              <a:t>, vol. 5, no. 4, 2023</a:t>
            </a:r>
            <a:endParaRPr/>
          </a:p>
          <a:p>
            <a:pPr indent="0" lvl="0" marL="0" rtl="0" algn="just">
              <a:lnSpc>
                <a:spcPct val="80000"/>
              </a:lnSpc>
              <a:spcBef>
                <a:spcPts val="0"/>
              </a:spcBef>
              <a:spcAft>
                <a:spcPts val="0"/>
              </a:spcAft>
              <a:buClr>
                <a:schemeClr val="dk2"/>
              </a:buClr>
              <a:buSzPts val="1800"/>
              <a:buNone/>
            </a:pPr>
            <a:r>
              <a:t/>
            </a:r>
            <a:endParaRPr sz="1800">
              <a:solidFill>
                <a:schemeClr val="dk2"/>
              </a:solidFill>
              <a:latin typeface="Arial"/>
              <a:ea typeface="Arial"/>
              <a:cs typeface="Arial"/>
              <a:sym typeface="Arial"/>
            </a:endParaRPr>
          </a:p>
          <a:p>
            <a:pPr indent="0" lvl="0" marL="0" rtl="0" algn="just">
              <a:lnSpc>
                <a:spcPct val="80000"/>
              </a:lnSpc>
              <a:spcBef>
                <a:spcPts val="0"/>
              </a:spcBef>
              <a:spcAft>
                <a:spcPts val="0"/>
              </a:spcAft>
              <a:buClr>
                <a:schemeClr val="dk2"/>
              </a:buClr>
              <a:buSzPts val="1800"/>
              <a:buNone/>
            </a:pPr>
            <a:r>
              <a:rPr lang="en-IN" sz="1800">
                <a:solidFill>
                  <a:schemeClr val="dk2"/>
                </a:solidFill>
                <a:latin typeface="Arial"/>
                <a:ea typeface="Arial"/>
                <a:cs typeface="Arial"/>
                <a:sym typeface="Arial"/>
              </a:rPr>
              <a:t>[4] S. Liang, “Remote Sensing of Vegetation: Principles, Techniques, and Applications,” </a:t>
            </a:r>
            <a:r>
              <a:rPr i="1" lang="en-IN" sz="1800">
                <a:solidFill>
                  <a:schemeClr val="dk2"/>
                </a:solidFill>
                <a:latin typeface="Arial"/>
                <a:ea typeface="Arial"/>
                <a:cs typeface="Arial"/>
                <a:sym typeface="Arial"/>
              </a:rPr>
              <a:t>Remote Sensing of Environment</a:t>
            </a:r>
            <a:r>
              <a:rPr lang="en-IN" sz="1800">
                <a:solidFill>
                  <a:schemeClr val="dk2"/>
                </a:solidFill>
                <a:latin typeface="Arial"/>
                <a:ea typeface="Arial"/>
                <a:cs typeface="Arial"/>
                <a:sym typeface="Arial"/>
              </a:rPr>
              <a:t>, Elsevier, 2009</a:t>
            </a:r>
            <a:endParaRPr/>
          </a:p>
          <a:p>
            <a:pPr indent="0" lvl="0" marL="0" rtl="0" algn="just">
              <a:lnSpc>
                <a:spcPct val="80000"/>
              </a:lnSpc>
              <a:spcBef>
                <a:spcPts val="0"/>
              </a:spcBef>
              <a:spcAft>
                <a:spcPts val="0"/>
              </a:spcAft>
              <a:buClr>
                <a:schemeClr val="dk2"/>
              </a:buClr>
              <a:buSzPts val="1800"/>
              <a:buNone/>
            </a:pPr>
            <a:r>
              <a:t/>
            </a:r>
            <a:endParaRPr sz="1800">
              <a:solidFill>
                <a:schemeClr val="dk2"/>
              </a:solidFill>
              <a:latin typeface="Arial"/>
              <a:ea typeface="Arial"/>
              <a:cs typeface="Arial"/>
              <a:sym typeface="Arial"/>
            </a:endParaRPr>
          </a:p>
          <a:p>
            <a:pPr indent="0" lvl="0" marL="0" rtl="0" algn="just">
              <a:lnSpc>
                <a:spcPct val="80000"/>
              </a:lnSpc>
              <a:spcBef>
                <a:spcPts val="0"/>
              </a:spcBef>
              <a:spcAft>
                <a:spcPts val="0"/>
              </a:spcAft>
              <a:buClr>
                <a:schemeClr val="dk2"/>
              </a:buClr>
              <a:buSzPts val="1800"/>
              <a:buNone/>
            </a:pPr>
            <a:r>
              <a:rPr lang="en-IN" sz="1800">
                <a:solidFill>
                  <a:schemeClr val="dk2"/>
                </a:solidFill>
                <a:latin typeface="Arial"/>
                <a:ea typeface="Arial"/>
                <a:cs typeface="Arial"/>
                <a:sym typeface="Arial"/>
              </a:rPr>
              <a:t>[5] D. Poli, F. Remondino, C. Dolci, “Use of Satellite Imagery for DEM Extraction, Landscape Modeling and GIS Applications,” </a:t>
            </a:r>
            <a:r>
              <a:rPr i="1" lang="en-IN" sz="1800">
                <a:solidFill>
                  <a:schemeClr val="dk2"/>
                </a:solidFill>
                <a:latin typeface="Arial"/>
                <a:ea typeface="Arial"/>
                <a:cs typeface="Arial"/>
                <a:sym typeface="Arial"/>
              </a:rPr>
              <a:t>International Archives of Photogrammetry, Remote Sensing and Spatial Information Sciences</a:t>
            </a:r>
            <a:r>
              <a:rPr lang="en-IN" sz="1800">
                <a:solidFill>
                  <a:schemeClr val="dk2"/>
                </a:solidFill>
                <a:latin typeface="Arial"/>
                <a:ea typeface="Arial"/>
                <a:cs typeface="Arial"/>
                <a:sym typeface="Arial"/>
              </a:rPr>
              <a:t>, vol. 36, 2004</a:t>
            </a:r>
            <a:endParaRPr/>
          </a:p>
          <a:p>
            <a:pPr indent="0" lvl="0" marL="0" rtl="0" algn="just">
              <a:lnSpc>
                <a:spcPct val="80000"/>
              </a:lnSpc>
              <a:spcBef>
                <a:spcPts val="0"/>
              </a:spcBef>
              <a:spcAft>
                <a:spcPts val="0"/>
              </a:spcAft>
              <a:buClr>
                <a:schemeClr val="dk2"/>
              </a:buClr>
              <a:buSzPts val="1800"/>
              <a:buNone/>
            </a:pPr>
            <a:r>
              <a:t/>
            </a:r>
            <a:endParaRPr sz="1800">
              <a:solidFill>
                <a:schemeClr val="dk2"/>
              </a:solidFill>
              <a:latin typeface="Arial"/>
              <a:ea typeface="Arial"/>
              <a:cs typeface="Arial"/>
              <a:sym typeface="Arial"/>
            </a:endParaRPr>
          </a:p>
          <a:p>
            <a:pPr indent="0" lvl="0" marL="0" rtl="0" algn="just">
              <a:lnSpc>
                <a:spcPct val="90000"/>
              </a:lnSpc>
              <a:spcBef>
                <a:spcPts val="1800"/>
              </a:spcBef>
              <a:spcAft>
                <a:spcPts val="0"/>
              </a:spcAft>
              <a:buSzPts val="1800"/>
              <a:buNone/>
            </a:pPr>
            <a:r>
              <a:t/>
            </a:r>
            <a:endParaRPr sz="1800">
              <a:solidFill>
                <a:schemeClr val="dk2"/>
              </a:solidFill>
              <a:latin typeface="Arial"/>
              <a:ea typeface="Arial"/>
              <a:cs typeface="Arial"/>
              <a:sym typeface="Arial"/>
            </a:endParaRPr>
          </a:p>
        </p:txBody>
      </p:sp>
      <p:sp>
        <p:nvSpPr>
          <p:cNvPr id="386" name="Google Shape;386;g3c53bd41426_0_139"/>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cf0bf8440b_0_120"/>
          <p:cNvSpPr txBox="1"/>
          <p:nvPr>
            <p:ph type="title"/>
          </p:nvPr>
        </p:nvSpPr>
        <p:spPr>
          <a:xfrm>
            <a:off x="100805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SzPts val="1800"/>
              <a:buNone/>
            </a:pPr>
            <a:r>
              <a:rPr lang="en-IN">
                <a:solidFill>
                  <a:schemeClr val="dk2"/>
                </a:solidFill>
              </a:rPr>
              <a:t>References</a:t>
            </a:r>
            <a:endParaRPr>
              <a:solidFill>
                <a:schemeClr val="dk2"/>
              </a:solidFill>
            </a:endParaRPr>
          </a:p>
        </p:txBody>
      </p:sp>
      <p:sp>
        <p:nvSpPr>
          <p:cNvPr id="393" name="Google Shape;393;g3cf0bf8440b_0_12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Autofit/>
          </a:bodyPr>
          <a:lstStyle/>
          <a:p>
            <a:pPr indent="0" lvl="0" marL="0" rtl="0" algn="just">
              <a:lnSpc>
                <a:spcPct val="80000"/>
              </a:lnSpc>
              <a:spcBef>
                <a:spcPts val="1800"/>
              </a:spcBef>
              <a:spcAft>
                <a:spcPts val="0"/>
              </a:spcAft>
              <a:buSzPts val="1100"/>
              <a:buNone/>
            </a:pPr>
            <a:r>
              <a:rPr lang="en-IN" sz="1800">
                <a:solidFill>
                  <a:schemeClr val="dk2"/>
                </a:solidFill>
                <a:latin typeface="Arial"/>
                <a:ea typeface="Arial"/>
                <a:cs typeface="Arial"/>
                <a:sym typeface="Arial"/>
              </a:rPr>
              <a:t>1] Zhiqiang Li, Fumin Liu, Wei Yang, Shuo Peng, and Jun Zhou, “A survey of convolutional neural networks: Analysis, applications, and prospects,” </a:t>
            </a:r>
            <a:r>
              <a:rPr i="1" lang="en-IN" sz="1800">
                <a:solidFill>
                  <a:schemeClr val="dk2"/>
                </a:solidFill>
                <a:latin typeface="Arial"/>
                <a:ea typeface="Arial"/>
                <a:cs typeface="Arial"/>
                <a:sym typeface="Arial"/>
              </a:rPr>
              <a:t>IEEE Transactions on Neural Networks and Learning Systems</a:t>
            </a:r>
            <a:r>
              <a:rPr lang="en-IN" sz="1800">
                <a:solidFill>
                  <a:schemeClr val="dk2"/>
                </a:solidFill>
                <a:latin typeface="Arial"/>
                <a:ea typeface="Arial"/>
                <a:cs typeface="Arial"/>
                <a:sym typeface="Arial"/>
              </a:rPr>
              <a:t>, vol. 33, no. 12, pp. 6999–7019, 2021</a:t>
            </a:r>
            <a:endParaRPr/>
          </a:p>
          <a:p>
            <a:pPr indent="0" lvl="0" marL="0" rtl="0" algn="just">
              <a:lnSpc>
                <a:spcPct val="80000"/>
              </a:lnSpc>
              <a:spcBef>
                <a:spcPts val="1800"/>
              </a:spcBef>
              <a:spcAft>
                <a:spcPts val="0"/>
              </a:spcAft>
              <a:buSzPts val="1100"/>
              <a:buNone/>
            </a:pPr>
            <a:r>
              <a:rPr lang="en-IN" sz="1800">
                <a:solidFill>
                  <a:schemeClr val="dk2"/>
                </a:solidFill>
                <a:latin typeface="Arial"/>
                <a:ea typeface="Arial"/>
                <a:cs typeface="Arial"/>
                <a:sym typeface="Arial"/>
              </a:rPr>
              <a:t>[2] Teja Kattenborn, Jens Leitloff, Florian Schiefer, and Stefan Hinz, “Review on convolutional neural networks in vegetation remote sensing,” </a:t>
            </a:r>
            <a:r>
              <a:rPr i="1" lang="en-IN" sz="1800">
                <a:solidFill>
                  <a:schemeClr val="dk2"/>
                </a:solidFill>
                <a:latin typeface="Arial"/>
                <a:ea typeface="Arial"/>
                <a:cs typeface="Arial"/>
                <a:sym typeface="Arial"/>
              </a:rPr>
              <a:t>ISPRS Journal of Photogrammetry and Remote Sensing</a:t>
            </a:r>
            <a:r>
              <a:rPr lang="en-IN" sz="1800">
                <a:solidFill>
                  <a:schemeClr val="dk2"/>
                </a:solidFill>
                <a:latin typeface="Arial"/>
                <a:ea typeface="Arial"/>
                <a:cs typeface="Arial"/>
                <a:sym typeface="Arial"/>
              </a:rPr>
              <a:t>, vol. 173, pp. 24–49, 2021</a:t>
            </a:r>
            <a:endParaRPr/>
          </a:p>
          <a:p>
            <a:pPr indent="0" lvl="0" marL="0" rtl="0" algn="just">
              <a:lnSpc>
                <a:spcPct val="80000"/>
              </a:lnSpc>
              <a:spcBef>
                <a:spcPts val="1800"/>
              </a:spcBef>
              <a:spcAft>
                <a:spcPts val="0"/>
              </a:spcAft>
              <a:buSzPts val="1100"/>
              <a:buNone/>
            </a:pPr>
            <a:r>
              <a:rPr lang="en-IN" sz="1800">
                <a:solidFill>
                  <a:schemeClr val="dk2"/>
                </a:solidFill>
                <a:latin typeface="Arial"/>
                <a:ea typeface="Arial"/>
                <a:cs typeface="Arial"/>
                <a:sym typeface="Arial"/>
              </a:rPr>
              <a:t>[3] Lei Ma, Yu Liu, Xueliang Zhang, Yuanxin Ye, Gaofeng Yin, and Brian Alan Johnson, “Deep learning in remote sensing applications: A meta-analysis and review,” </a:t>
            </a:r>
            <a:r>
              <a:rPr i="1" lang="en-IN" sz="1800">
                <a:solidFill>
                  <a:schemeClr val="dk2"/>
                </a:solidFill>
                <a:latin typeface="Arial"/>
                <a:ea typeface="Arial"/>
                <a:cs typeface="Arial"/>
                <a:sym typeface="Arial"/>
              </a:rPr>
              <a:t>ISPRS Journal of Photogrammetry and Remote Sensing</a:t>
            </a:r>
            <a:r>
              <a:rPr lang="en-IN" sz="1800">
                <a:solidFill>
                  <a:schemeClr val="dk2"/>
                </a:solidFill>
                <a:latin typeface="Arial"/>
                <a:ea typeface="Arial"/>
                <a:cs typeface="Arial"/>
                <a:sym typeface="Arial"/>
              </a:rPr>
              <a:t>, vol. 152, pp. 166–177, 2019</a:t>
            </a:r>
            <a:endParaRPr/>
          </a:p>
          <a:p>
            <a:pPr indent="0" lvl="0" marL="0" rtl="0" algn="just">
              <a:lnSpc>
                <a:spcPct val="80000"/>
              </a:lnSpc>
              <a:spcBef>
                <a:spcPts val="1800"/>
              </a:spcBef>
              <a:spcAft>
                <a:spcPts val="0"/>
              </a:spcAft>
              <a:buSzPts val="1100"/>
              <a:buNone/>
            </a:pPr>
            <a:r>
              <a:rPr lang="en-IN" sz="1800">
                <a:solidFill>
                  <a:schemeClr val="dk2"/>
                </a:solidFill>
                <a:latin typeface="Arial"/>
                <a:ea typeface="Arial"/>
                <a:cs typeface="Arial"/>
                <a:sym typeface="Arial"/>
              </a:rPr>
              <a:t>[4] Yongsheng Zhang, Hong Zhang, and Liangpei Zhang, “Remote sensing image scene classification using CNN-CapsNet,” </a:t>
            </a:r>
            <a:r>
              <a:rPr i="1" lang="en-IN" sz="1800">
                <a:solidFill>
                  <a:schemeClr val="dk2"/>
                </a:solidFill>
                <a:latin typeface="Arial"/>
                <a:ea typeface="Arial"/>
                <a:cs typeface="Arial"/>
                <a:sym typeface="Arial"/>
              </a:rPr>
              <a:t>Remote Sensing</a:t>
            </a:r>
            <a:r>
              <a:rPr lang="en-IN" sz="1800">
                <a:solidFill>
                  <a:schemeClr val="dk2"/>
                </a:solidFill>
                <a:latin typeface="Arial"/>
                <a:ea typeface="Arial"/>
                <a:cs typeface="Arial"/>
                <a:sym typeface="Arial"/>
              </a:rPr>
              <a:t>, vol. 11, no. 5, p. 494, 2019</a:t>
            </a:r>
            <a:endParaRPr/>
          </a:p>
          <a:p>
            <a:pPr indent="0" lvl="0" marL="0" rtl="0" algn="just">
              <a:lnSpc>
                <a:spcPct val="80000"/>
              </a:lnSpc>
              <a:spcBef>
                <a:spcPts val="1800"/>
              </a:spcBef>
              <a:spcAft>
                <a:spcPts val="0"/>
              </a:spcAft>
              <a:buSzPts val="1100"/>
              <a:buNone/>
            </a:pPr>
            <a:r>
              <a:rPr lang="en-IN" sz="1800">
                <a:solidFill>
                  <a:schemeClr val="dk2"/>
                </a:solidFill>
                <a:latin typeface="Arial"/>
                <a:ea typeface="Arial"/>
                <a:cs typeface="Arial"/>
                <a:sym typeface="Arial"/>
              </a:rPr>
              <a:t>[5] Yushi Chen, Zhouhan Lin, Xing Zhao, Gang Wang, and Yanfeng Gu, “Deep learning-based classification of hyperspectral data,” </a:t>
            </a:r>
            <a:r>
              <a:rPr i="1" lang="en-IN" sz="1800">
                <a:solidFill>
                  <a:schemeClr val="dk2"/>
                </a:solidFill>
                <a:latin typeface="Arial"/>
                <a:ea typeface="Arial"/>
                <a:cs typeface="Arial"/>
                <a:sym typeface="Arial"/>
              </a:rPr>
              <a:t>IEEE Journal of Selected Topics in Applied Earth Observations and Remote Sensing</a:t>
            </a:r>
            <a:r>
              <a:rPr lang="en-IN" sz="1800">
                <a:solidFill>
                  <a:schemeClr val="dk2"/>
                </a:solidFill>
                <a:latin typeface="Arial"/>
                <a:ea typeface="Arial"/>
                <a:cs typeface="Arial"/>
                <a:sym typeface="Arial"/>
              </a:rPr>
              <a:t>, vol. 7, no. 6, pp. 2094–2107, 2014</a:t>
            </a:r>
            <a:endParaRPr/>
          </a:p>
          <a:p>
            <a:pPr indent="0" lvl="0" marL="0" rtl="0" algn="just">
              <a:lnSpc>
                <a:spcPct val="80000"/>
              </a:lnSpc>
              <a:spcBef>
                <a:spcPts val="1800"/>
              </a:spcBef>
              <a:spcAft>
                <a:spcPts val="0"/>
              </a:spcAft>
              <a:buClr>
                <a:schemeClr val="dk2"/>
              </a:buClr>
              <a:buSzPts val="1100"/>
              <a:buNone/>
            </a:pPr>
            <a:r>
              <a:t/>
            </a:r>
            <a:endParaRPr sz="1800">
              <a:solidFill>
                <a:schemeClr val="dk2"/>
              </a:solidFill>
              <a:latin typeface="Arial"/>
              <a:ea typeface="Arial"/>
              <a:cs typeface="Arial"/>
              <a:sym typeface="Arial"/>
            </a:endParaRPr>
          </a:p>
        </p:txBody>
      </p:sp>
      <p:sp>
        <p:nvSpPr>
          <p:cNvPr id="394" name="Google Shape;394;g3cf0bf8440b_0_120"/>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cf0bf8440b_0_127"/>
          <p:cNvSpPr txBox="1"/>
          <p:nvPr>
            <p:ph type="title"/>
          </p:nvPr>
        </p:nvSpPr>
        <p:spPr>
          <a:xfrm>
            <a:off x="1104900" y="76200"/>
            <a:ext cx="9980700" cy="1097100"/>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1800"/>
              <a:buFont typeface="Arial"/>
              <a:buNone/>
            </a:pPr>
            <a:r>
              <a:rPr lang="en-IN">
                <a:solidFill>
                  <a:schemeClr val="dk2"/>
                </a:solidFill>
              </a:rPr>
              <a:t>References</a:t>
            </a:r>
            <a:endParaRPr>
              <a:solidFill>
                <a:schemeClr val="dk2"/>
              </a:solidFill>
            </a:endParaRPr>
          </a:p>
        </p:txBody>
      </p:sp>
      <p:sp>
        <p:nvSpPr>
          <p:cNvPr id="401" name="Google Shape;401;g3cf0bf8440b_0_127"/>
          <p:cNvSpPr txBox="1"/>
          <p:nvPr>
            <p:ph idx="1" type="body"/>
          </p:nvPr>
        </p:nvSpPr>
        <p:spPr>
          <a:xfrm>
            <a:off x="1104900" y="1296237"/>
            <a:ext cx="9982200" cy="4875963"/>
          </a:xfrm>
          <a:prstGeom prst="rect">
            <a:avLst/>
          </a:prstGeom>
          <a:noFill/>
          <a:ln>
            <a:noFill/>
          </a:ln>
        </p:spPr>
        <p:txBody>
          <a:bodyPr anchorCtr="0" anchor="t" bIns="45700" lIns="0" spcFirstLastPara="1" rIns="0" wrap="square" tIns="45700">
            <a:noAutofit/>
          </a:bodyPr>
          <a:lstStyle/>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[1] Deepa Rai, “New Horizons for Ecotourism in Sikkim: An Integrated MCDA Approach,” </a:t>
            </a:r>
            <a:r>
              <a:rPr i="1" lang="en-IN" sz="1800">
                <a:solidFill>
                  <a:schemeClr val="dk2"/>
                </a:solidFill>
                <a:latin typeface="Arial"/>
                <a:ea typeface="Arial"/>
                <a:cs typeface="Arial"/>
                <a:sym typeface="Arial"/>
              </a:rPr>
              <a:t>International Journal of Ecology and Environmental Sciences</a:t>
            </a:r>
            <a:r>
              <a:rPr lang="en-IN" sz="1800">
                <a:solidFill>
                  <a:schemeClr val="dk2"/>
                </a:solidFill>
                <a:latin typeface="Arial"/>
                <a:ea typeface="Arial"/>
                <a:cs typeface="Arial"/>
                <a:sym typeface="Arial"/>
              </a:rPr>
              <a:t>, 2025</a:t>
            </a:r>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[2] Q. Huang, C. Zhou, M. Li, Y. Ma, and S. Hua, “An Approach for Mapping Ecotourism Suitability Using Machine Learning: A Case Study of Zhangjiajie, China,” </a:t>
            </a:r>
            <a:r>
              <a:rPr i="1" lang="en-IN" sz="1800">
                <a:solidFill>
                  <a:schemeClr val="dk2"/>
                </a:solidFill>
                <a:latin typeface="Arial"/>
                <a:ea typeface="Arial"/>
                <a:cs typeface="Arial"/>
                <a:sym typeface="Arial"/>
              </a:rPr>
              <a:t>Land</a:t>
            </a:r>
            <a:r>
              <a:rPr lang="en-IN" sz="1800">
                <a:solidFill>
                  <a:schemeClr val="dk2"/>
                </a:solidFill>
                <a:latin typeface="Arial"/>
                <a:ea typeface="Arial"/>
                <a:cs typeface="Arial"/>
                <a:sym typeface="Arial"/>
              </a:rPr>
              <a:t>, vol. 13, no. 8, 2024</a:t>
            </a:r>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[3] R. S. Chandel, S. Kanga, S. K. Singh, B. Đurin, O. B. Oršulić, D. Dogančić, and J. D. Hunt, “Assessing Sustainable Ecotourism Opportunities in Western Rajasthan, India, through Advanced Geospatial Technologies,” </a:t>
            </a:r>
            <a:r>
              <a:rPr i="1" lang="en-IN" sz="1800">
                <a:solidFill>
                  <a:schemeClr val="dk2"/>
                </a:solidFill>
                <a:latin typeface="Arial"/>
                <a:ea typeface="Arial"/>
                <a:cs typeface="Arial"/>
                <a:sym typeface="Arial"/>
              </a:rPr>
              <a:t>Sustainability</a:t>
            </a:r>
            <a:r>
              <a:rPr lang="en-IN" sz="1800">
                <a:solidFill>
                  <a:schemeClr val="dk2"/>
                </a:solidFill>
                <a:latin typeface="Arial"/>
                <a:ea typeface="Arial"/>
                <a:cs typeface="Arial"/>
                <a:sym typeface="Arial"/>
              </a:rPr>
              <a:t>, vol. 15, no. 14, 2023</a:t>
            </a:r>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[4] Aditi Acharya, “Geospatial Analysis of Geo-Ecotourism Site Suitability Using AHP and GIS for Sustainable and Resilient Tourism Planning in West Bengal, India,” </a:t>
            </a:r>
            <a:r>
              <a:rPr i="1" lang="en-IN" sz="1800">
                <a:solidFill>
                  <a:schemeClr val="dk2"/>
                </a:solidFill>
                <a:latin typeface="Arial"/>
                <a:ea typeface="Arial"/>
                <a:cs typeface="Arial"/>
                <a:sym typeface="Arial"/>
              </a:rPr>
              <a:t>Sustainability</a:t>
            </a:r>
            <a:r>
              <a:rPr lang="en-IN" sz="1800">
                <a:solidFill>
                  <a:schemeClr val="dk2"/>
                </a:solidFill>
                <a:latin typeface="Arial"/>
                <a:ea typeface="Arial"/>
                <a:cs typeface="Arial"/>
                <a:sym typeface="Arial"/>
              </a:rPr>
              <a:t>, vol. 14, no. 4, 2022</a:t>
            </a:r>
            <a:endParaRPr/>
          </a:p>
          <a:p>
            <a:pPr indent="0" lvl="0" marL="0" rtl="0" algn="just">
              <a:lnSpc>
                <a:spcPct val="115000"/>
              </a:lnSpc>
              <a:spcBef>
                <a:spcPts val="1200"/>
              </a:spcBef>
              <a:spcAft>
                <a:spcPts val="0"/>
              </a:spcAft>
              <a:buClr>
                <a:schemeClr val="dk2"/>
              </a:buClr>
              <a:buSzPts val="1100"/>
              <a:buNone/>
            </a:pPr>
            <a:r>
              <a:rPr lang="en-IN" sz="1800">
                <a:solidFill>
                  <a:schemeClr val="dk2"/>
                </a:solidFill>
                <a:latin typeface="Arial"/>
                <a:ea typeface="Arial"/>
                <a:cs typeface="Arial"/>
                <a:sym typeface="Arial"/>
              </a:rPr>
              <a:t>[5] N. Li, J. Y. Wang, H. Y. Wang, and X. L. Yang, “Study on Ecological and Environmental Suitability of Tourism Resources Development in Lijiang River Basin of Guilin, China,” </a:t>
            </a:r>
            <a:r>
              <a:rPr i="1" lang="en-IN" sz="1800">
                <a:solidFill>
                  <a:schemeClr val="dk2"/>
                </a:solidFill>
                <a:latin typeface="Arial"/>
                <a:ea typeface="Arial"/>
                <a:cs typeface="Arial"/>
                <a:sym typeface="Arial"/>
              </a:rPr>
              <a:t>International Archives of the Photogrammetry, Remote Sensing and Spatial Information Sciences</a:t>
            </a:r>
            <a:r>
              <a:rPr lang="en-IN" sz="1800">
                <a:solidFill>
                  <a:schemeClr val="dk2"/>
                </a:solidFill>
                <a:latin typeface="Arial"/>
                <a:ea typeface="Arial"/>
                <a:cs typeface="Arial"/>
                <a:sym typeface="Arial"/>
              </a:rPr>
              <a:t>, vol. XLII-3/W10, pp. 601–606, 2020</a:t>
            </a:r>
            <a:endParaRPr/>
          </a:p>
          <a:p>
            <a:pPr indent="0" lvl="0" marL="0" rtl="0" algn="just">
              <a:lnSpc>
                <a:spcPct val="90000"/>
              </a:lnSpc>
              <a:spcBef>
                <a:spcPts val="1800"/>
              </a:spcBef>
              <a:spcAft>
                <a:spcPts val="0"/>
              </a:spcAft>
              <a:buSzPts val="1800"/>
              <a:buNone/>
            </a:pPr>
            <a:r>
              <a:t/>
            </a:r>
            <a:endParaRPr sz="1800">
              <a:solidFill>
                <a:schemeClr val="dk2"/>
              </a:solidFill>
              <a:latin typeface="Arial"/>
              <a:ea typeface="Arial"/>
              <a:cs typeface="Arial"/>
              <a:sym typeface="Arial"/>
            </a:endParaRPr>
          </a:p>
        </p:txBody>
      </p:sp>
      <p:sp>
        <p:nvSpPr>
          <p:cNvPr id="402" name="Google Shape;402;g3cf0bf8440b_0_127"/>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1"/>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dk1"/>
              </a:buClr>
              <a:buSzPts val="4400"/>
              <a:buFont typeface="Arial"/>
              <a:buNone/>
            </a:pPr>
            <a:r>
              <a:rPr lang="en-IN">
                <a:solidFill>
                  <a:schemeClr val="dk2"/>
                </a:solidFill>
              </a:rPr>
              <a:t>THANK YOU !!</a:t>
            </a:r>
            <a:endParaRPr>
              <a:solidFill>
                <a:schemeClr val="dk2"/>
              </a:solidFill>
            </a:endParaRPr>
          </a:p>
        </p:txBody>
      </p:sp>
      <p:sp>
        <p:nvSpPr>
          <p:cNvPr id="408" name="Google Shape;408;p21"/>
          <p:cNvSpPr txBox="1"/>
          <p:nvPr>
            <p:ph idx="1" type="subTitle"/>
          </p:nvPr>
        </p:nvSpPr>
        <p:spPr>
          <a:xfrm>
            <a:off x="1104900" y="3961301"/>
            <a:ext cx="10096500" cy="16743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Clr>
                <a:schemeClr val="dk1"/>
              </a:buClr>
              <a:buSzPts val="1800"/>
              <a:buNone/>
            </a:pPr>
            <a:r>
              <a:t/>
            </a:r>
            <a:endParaRPr>
              <a:solidFill>
                <a:schemeClr val="dk2"/>
              </a:solidFill>
            </a:endParaRPr>
          </a:p>
          <a:p>
            <a:pPr indent="0" lvl="0" marL="0" rtl="0" algn="l">
              <a:lnSpc>
                <a:spcPct val="90000"/>
              </a:lnSpc>
              <a:spcBef>
                <a:spcPts val="0"/>
              </a:spcBef>
              <a:spcAft>
                <a:spcPts val="0"/>
              </a:spcAft>
              <a:buClr>
                <a:schemeClr val="dk1"/>
              </a:buClr>
              <a:buSzPts val="1800"/>
              <a:buNone/>
            </a:pPr>
            <a:r>
              <a:rPr lang="en-IN">
                <a:solidFill>
                  <a:schemeClr val="dk2"/>
                </a:solidFill>
              </a:rPr>
              <a:t>Department of Computer Engineering</a:t>
            </a:r>
            <a:endParaRPr>
              <a:solidFill>
                <a:schemeClr val="dk2"/>
              </a:solidFill>
            </a:endParaRPr>
          </a:p>
          <a:p>
            <a:pPr indent="0" lvl="0" marL="0" rtl="0" algn="l">
              <a:lnSpc>
                <a:spcPct val="90000"/>
              </a:lnSpc>
              <a:spcBef>
                <a:spcPts val="0"/>
              </a:spcBef>
              <a:spcAft>
                <a:spcPts val="0"/>
              </a:spcAft>
              <a:buClr>
                <a:schemeClr val="dk1"/>
              </a:buClr>
              <a:buSzPts val="1800"/>
              <a:buNone/>
            </a:pPr>
            <a:r>
              <a:rPr lang="en-IN">
                <a:solidFill>
                  <a:schemeClr val="dk2"/>
                </a:solidFill>
              </a:rPr>
              <a:t>K.K.Wagh Institute of Engineering Education &amp; Research, Nashik</a:t>
            </a:r>
            <a:endParaRPr>
              <a:solidFill>
                <a:schemeClr val="dk2"/>
              </a:solidFill>
            </a:endParaRPr>
          </a:p>
          <a:p>
            <a:pPr indent="0" lvl="0" marL="0" rtl="0" algn="l">
              <a:lnSpc>
                <a:spcPct val="90000"/>
              </a:lnSpc>
              <a:spcBef>
                <a:spcPts val="0"/>
              </a:spcBef>
              <a:spcAft>
                <a:spcPts val="0"/>
              </a:spcAft>
              <a:buClr>
                <a:schemeClr val="dk1"/>
              </a:buClr>
              <a:buSzPts val="1800"/>
              <a:buNone/>
            </a:pPr>
            <a:r>
              <a:t/>
            </a:r>
            <a:endParaRPr>
              <a:solidFill>
                <a:schemeClr val="dk2"/>
              </a:solidFill>
            </a:endParaRPr>
          </a:p>
          <a:p>
            <a:pPr indent="0" lvl="0" marL="0" rtl="0" algn="l">
              <a:lnSpc>
                <a:spcPct val="90000"/>
              </a:lnSpc>
              <a:spcBef>
                <a:spcPts val="0"/>
              </a:spcBef>
              <a:spcAft>
                <a:spcPts val="0"/>
              </a:spcAft>
              <a:buClr>
                <a:schemeClr val="dk1"/>
              </a:buClr>
              <a:buSzPts val="1800"/>
              <a:buNone/>
            </a:pPr>
            <a:r>
              <a:t/>
            </a:r>
            <a:endParaRPr>
              <a:solidFill>
                <a:schemeClr val="dk2"/>
              </a:solidFill>
            </a:endParaRPr>
          </a:p>
        </p:txBody>
      </p:sp>
      <p:pic>
        <p:nvPicPr>
          <p:cNvPr id="409" name="Google Shape;409;p21"/>
          <p:cNvPicPr preferRelativeResize="0"/>
          <p:nvPr/>
        </p:nvPicPr>
        <p:blipFill rotWithShape="1">
          <a:blip r:embed="rId3">
            <a:alphaModFix/>
          </a:blip>
          <a:srcRect b="0" l="0" r="0" t="0"/>
          <a:stretch/>
        </p:blipFill>
        <p:spPr>
          <a:xfrm>
            <a:off x="9691631" y="1352533"/>
            <a:ext cx="2228612" cy="1860930"/>
          </a:xfrm>
          <a:prstGeom prst="rect">
            <a:avLst/>
          </a:prstGeom>
          <a:noFill/>
          <a:ln>
            <a:noFill/>
          </a:ln>
        </p:spPr>
      </p:pic>
      <p:sp>
        <p:nvSpPr>
          <p:cNvPr id="410" name="Google Shape;410;p21"/>
          <p:cNvSpPr txBox="1"/>
          <p:nvPr>
            <p:ph idx="12" type="sldNum"/>
          </p:nvPr>
        </p:nvSpPr>
        <p:spPr>
          <a:xfrm>
            <a:off x="9256782" y="6356351"/>
            <a:ext cx="1828800" cy="365100"/>
          </a:xfrm>
          <a:prstGeom prst="rect">
            <a:avLst/>
          </a:prstGeom>
          <a:noFill/>
          <a:ln>
            <a:noFill/>
          </a:ln>
        </p:spPr>
        <p:txBody>
          <a:bodyPr anchorCtr="0" anchor="ctr" bIns="45700" lIns="0" spcFirstLastPara="1" rIns="0"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31380_win32">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Khanderao Gaikwad</dc:creator>
</cp:coreProperties>
</file>